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70" r:id="rId4"/>
    <p:sldId id="271" r:id="rId5"/>
    <p:sldId id="272" r:id="rId6"/>
    <p:sldId id="273" r:id="rId7"/>
    <p:sldId id="258" r:id="rId8"/>
    <p:sldId id="259" r:id="rId9"/>
    <p:sldId id="275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libri (MS)" panose="020B0604020202020204" charset="0"/>
      <p:regular r:id="rId21"/>
    </p:embeddedFont>
    <p:embeddedFont>
      <p:font typeface="Calibri (MS) Bold" panose="020B0604020202020204" charset="0"/>
      <p:regular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Cambria Bold" panose="02040803050406030204" pitchFamily="18" charset="0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136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urus\OneDrive\Desktop\Newton%20School\Projects\SQL%20Chinook%20Music%20Store%20Project\excel\ob2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urus\OneDrive\Desktop\Newton%20School\Projects\SQL%20Chinook%20Music%20Store%20Project\excel\ob2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urus\OneDrive\Desktop\Newton%20School\Projects\SQL%20Chinook%20Music%20Store%20Project\excel\ob4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urus\OneDrive\Desktop\Newton%20School\Projects\SQL%20Chinook%20Music%20Store%20Project\excel\ob8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urus\OneDrive\Desktop\Newton%20School\Projects\SQL%20Chinook%20Music%20Store%20Project\excel\ob7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[ob2.csv]Sheet1!PivotTable16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1" dirty="0"/>
              <a:t>Top artist in USA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Sheet1!$A$4:$A$12</c:f>
              <c:strCache>
                <c:ptCount val="9"/>
                <c:pt idx="0">
                  <c:v>AC/DC</c:v>
                </c:pt>
                <c:pt idx="1">
                  <c:v>Alice In Chains</c:v>
                </c:pt>
                <c:pt idx="2">
                  <c:v>Amy Winehouse</c:v>
                </c:pt>
                <c:pt idx="3">
                  <c:v>Black Sabbath</c:v>
                </c:pt>
                <c:pt idx="4">
                  <c:v>Cake</c:v>
                </c:pt>
                <c:pt idx="5">
                  <c:v>Jimi Hendrix</c:v>
                </c:pt>
                <c:pt idx="6">
                  <c:v>Nirvana</c:v>
                </c:pt>
                <c:pt idx="7">
                  <c:v>System Of A Down</c:v>
                </c:pt>
                <c:pt idx="8">
                  <c:v>The Doors</c:v>
                </c:pt>
              </c:strCache>
            </c:strRef>
          </c:cat>
          <c:val>
            <c:numRef>
              <c:f>Sheet1!$B$4:$B$12</c:f>
              <c:numCache>
                <c:formatCode>General</c:formatCode>
                <c:ptCount val="9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4</c:v>
                </c:pt>
                <c:pt idx="4">
                  <c:v>6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5F-4BF6-A6A5-2D3E5CBEA8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39834960"/>
        <c:axId val="1239833040"/>
      </c:barChart>
      <c:catAx>
        <c:axId val="123983496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Artist</a:t>
                </a:r>
                <a:r>
                  <a:rPr lang="en-IN" baseline="0"/>
                  <a:t> Name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9833040"/>
        <c:crosses val="autoZero"/>
        <c:auto val="1"/>
        <c:lblAlgn val="ctr"/>
        <c:lblOffset val="100"/>
        <c:noMultiLvlLbl val="0"/>
      </c:catAx>
      <c:valAx>
        <c:axId val="12398330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Units Sold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9834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[ob2.csv]ob2!PivotTable1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1" dirty="0"/>
              <a:t>Top track in USA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'ob2'!$I$3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'ob2'!$H$4:$H$14</c:f>
              <c:strCache>
                <c:ptCount val="10"/>
                <c:pt idx="0">
                  <c:v>End Of The Night</c:v>
                </c:pt>
                <c:pt idx="1">
                  <c:v>Evil Woman</c:v>
                </c:pt>
                <c:pt idx="2">
                  <c:v>Highway Chile</c:v>
                </c:pt>
                <c:pt idx="3">
                  <c:v>I Can't Remember</c:v>
                </c:pt>
                <c:pt idx="4">
                  <c:v>I Looked At You</c:v>
                </c:pt>
                <c:pt idx="5">
                  <c:v>Night Of The Long Knives</c:v>
                </c:pt>
                <c:pt idx="6">
                  <c:v>Scentless Apprentice</c:v>
                </c:pt>
                <c:pt idx="7">
                  <c:v>Violent Pornography</c:v>
                </c:pt>
                <c:pt idx="8">
                  <c:v>War Pigs</c:v>
                </c:pt>
                <c:pt idx="9">
                  <c:v>You Know I'm No Good (feat. Ghostface Killah)</c:v>
                </c:pt>
              </c:strCache>
            </c:strRef>
          </c:cat>
          <c:val>
            <c:numRef>
              <c:f>'ob2'!$I$4:$I$14</c:f>
              <c:numCache>
                <c:formatCode>General</c:formatCode>
                <c:ptCount val="10"/>
                <c:pt idx="0">
                  <c:v>3.96</c:v>
                </c:pt>
                <c:pt idx="1">
                  <c:v>3.96</c:v>
                </c:pt>
                <c:pt idx="2">
                  <c:v>3.96</c:v>
                </c:pt>
                <c:pt idx="3">
                  <c:v>2.97</c:v>
                </c:pt>
                <c:pt idx="4">
                  <c:v>3.96</c:v>
                </c:pt>
                <c:pt idx="5">
                  <c:v>3.96</c:v>
                </c:pt>
                <c:pt idx="6">
                  <c:v>3.96</c:v>
                </c:pt>
                <c:pt idx="7">
                  <c:v>3.96</c:v>
                </c:pt>
                <c:pt idx="8">
                  <c:v>5.94</c:v>
                </c:pt>
                <c:pt idx="9">
                  <c:v>4.95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FB-48F4-A735-78AFDC8C92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9317376"/>
        <c:axId val="723510608"/>
      </c:barChart>
      <c:catAx>
        <c:axId val="7593173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Track</a:t>
                </a:r>
                <a:r>
                  <a:rPr lang="en-IN" baseline="0"/>
                  <a:t> Name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510608"/>
        <c:crosses val="autoZero"/>
        <c:auto val="1"/>
        <c:lblAlgn val="ctr"/>
        <c:lblOffset val="100"/>
        <c:noMultiLvlLbl val="0"/>
      </c:catAx>
      <c:valAx>
        <c:axId val="72351060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9317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Revenue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'ob4'!$B$1</c:f>
              <c:strCache>
                <c:ptCount val="1"/>
                <c:pt idx="0">
                  <c:v>Sum of total_revenue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'ob4'!$A$2:$A$25</c:f>
              <c:strCache>
                <c:ptCount val="24"/>
                <c:pt idx="0">
                  <c:v>Argentina</c:v>
                </c:pt>
                <c:pt idx="1">
                  <c:v>Australia</c:v>
                </c:pt>
                <c:pt idx="2">
                  <c:v>Austria</c:v>
                </c:pt>
                <c:pt idx="3">
                  <c:v>Belgium</c:v>
                </c:pt>
                <c:pt idx="4">
                  <c:v>Brazil</c:v>
                </c:pt>
                <c:pt idx="5">
                  <c:v>Canada</c:v>
                </c:pt>
                <c:pt idx="6">
                  <c:v>Chile</c:v>
                </c:pt>
                <c:pt idx="7">
                  <c:v>Czech Republic</c:v>
                </c:pt>
                <c:pt idx="8">
                  <c:v>Denmark</c:v>
                </c:pt>
                <c:pt idx="9">
                  <c:v>Finland</c:v>
                </c:pt>
                <c:pt idx="10">
                  <c:v>France</c:v>
                </c:pt>
                <c:pt idx="11">
                  <c:v>Germany</c:v>
                </c:pt>
                <c:pt idx="12">
                  <c:v>Hungary</c:v>
                </c:pt>
                <c:pt idx="13">
                  <c:v>India</c:v>
                </c:pt>
                <c:pt idx="14">
                  <c:v>Ireland</c:v>
                </c:pt>
                <c:pt idx="15">
                  <c:v>Italy</c:v>
                </c:pt>
                <c:pt idx="16">
                  <c:v>Netherlands</c:v>
                </c:pt>
                <c:pt idx="17">
                  <c:v>Norway</c:v>
                </c:pt>
                <c:pt idx="18">
                  <c:v>Poland</c:v>
                </c:pt>
                <c:pt idx="19">
                  <c:v>Portugal</c:v>
                </c:pt>
                <c:pt idx="20">
                  <c:v>Spain</c:v>
                </c:pt>
                <c:pt idx="21">
                  <c:v>Sweden</c:v>
                </c:pt>
                <c:pt idx="22">
                  <c:v>United Kingdom</c:v>
                </c:pt>
                <c:pt idx="23">
                  <c:v>USA</c:v>
                </c:pt>
              </c:strCache>
            </c:strRef>
          </c:cat>
          <c:val>
            <c:numRef>
              <c:f>'ob4'!$B$2:$B$25</c:f>
              <c:numCache>
                <c:formatCode>General</c:formatCode>
                <c:ptCount val="24"/>
                <c:pt idx="0">
                  <c:v>39.6</c:v>
                </c:pt>
                <c:pt idx="1">
                  <c:v>81.180000000000007</c:v>
                </c:pt>
                <c:pt idx="2">
                  <c:v>69.3</c:v>
                </c:pt>
                <c:pt idx="3">
                  <c:v>60.39</c:v>
                </c:pt>
                <c:pt idx="4">
                  <c:v>427.68</c:v>
                </c:pt>
                <c:pt idx="5">
                  <c:v>535.59</c:v>
                </c:pt>
                <c:pt idx="6">
                  <c:v>97.02</c:v>
                </c:pt>
                <c:pt idx="7">
                  <c:v>273.24</c:v>
                </c:pt>
                <c:pt idx="8">
                  <c:v>37.619999999999997</c:v>
                </c:pt>
                <c:pt idx="9">
                  <c:v>79.2</c:v>
                </c:pt>
                <c:pt idx="10">
                  <c:v>389.07</c:v>
                </c:pt>
                <c:pt idx="11">
                  <c:v>334.62</c:v>
                </c:pt>
                <c:pt idx="12">
                  <c:v>78.209999999999994</c:v>
                </c:pt>
                <c:pt idx="13">
                  <c:v>183.15</c:v>
                </c:pt>
                <c:pt idx="14">
                  <c:v>114.84</c:v>
                </c:pt>
                <c:pt idx="15">
                  <c:v>50.49</c:v>
                </c:pt>
                <c:pt idx="16">
                  <c:v>65.34</c:v>
                </c:pt>
                <c:pt idx="17">
                  <c:v>72.27</c:v>
                </c:pt>
                <c:pt idx="18">
                  <c:v>76.23</c:v>
                </c:pt>
                <c:pt idx="19">
                  <c:v>185.13</c:v>
                </c:pt>
                <c:pt idx="20">
                  <c:v>98.01</c:v>
                </c:pt>
                <c:pt idx="21">
                  <c:v>75.239999999999995</c:v>
                </c:pt>
                <c:pt idx="22">
                  <c:v>245.52</c:v>
                </c:pt>
                <c:pt idx="23">
                  <c:v>1040.49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B6-4C63-B909-CAFEBDB2CE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138771391"/>
        <c:axId val="2138779071"/>
      </c:barChart>
      <c:catAx>
        <c:axId val="213877139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Country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8779071"/>
        <c:crosses val="autoZero"/>
        <c:auto val="1"/>
        <c:lblAlgn val="ctr"/>
        <c:lblOffset val="100"/>
        <c:noMultiLvlLbl val="0"/>
      </c:catAx>
      <c:valAx>
        <c:axId val="21387790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8771391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Customer Churn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98C0-4232-841D-1C880FBDA2C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98C0-4232-841D-1C880FBDA2C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98C0-4232-841D-1C880FBDA2C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98C0-4232-841D-1C880FBDA2C5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'ob8'!$A$1:$D$1</c:f>
              <c:strCache>
                <c:ptCount val="4"/>
                <c:pt idx="0">
                  <c:v>total_customers</c:v>
                </c:pt>
                <c:pt idx="1">
                  <c:v>churned_customers</c:v>
                </c:pt>
                <c:pt idx="2">
                  <c:v>active_customers</c:v>
                </c:pt>
                <c:pt idx="3">
                  <c:v>churn_rate_pct</c:v>
                </c:pt>
              </c:strCache>
            </c:strRef>
          </c:cat>
          <c:val>
            <c:numRef>
              <c:f>'ob8'!$A$2:$D$2</c:f>
              <c:numCache>
                <c:formatCode>General</c:formatCode>
                <c:ptCount val="4"/>
                <c:pt idx="0">
                  <c:v>59</c:v>
                </c:pt>
                <c:pt idx="1">
                  <c:v>22</c:v>
                </c:pt>
                <c:pt idx="2">
                  <c:v>37</c:v>
                </c:pt>
                <c:pt idx="3">
                  <c:v>37.29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8C0-4232-841D-1C880FBDA2C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400" b="1" dirty="0"/>
              <a:t>Customer Purchasing Behaviour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'ob7'!$A$1</c:f>
              <c:strCache>
                <c:ptCount val="1"/>
                <c:pt idx="0">
                  <c:v>customer_id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'ob7'!$A$2:$A$60</c:f>
              <c:numCache>
                <c:formatCode>General</c:formatCode>
                <c:ptCount val="59"/>
                <c:pt idx="0">
                  <c:v>5</c:v>
                </c:pt>
                <c:pt idx="1">
                  <c:v>6</c:v>
                </c:pt>
                <c:pt idx="2">
                  <c:v>46</c:v>
                </c:pt>
                <c:pt idx="3">
                  <c:v>3</c:v>
                </c:pt>
                <c:pt idx="4">
                  <c:v>42</c:v>
                </c:pt>
                <c:pt idx="5">
                  <c:v>58</c:v>
                </c:pt>
                <c:pt idx="6">
                  <c:v>1</c:v>
                </c:pt>
                <c:pt idx="7">
                  <c:v>34</c:v>
                </c:pt>
                <c:pt idx="8">
                  <c:v>37</c:v>
                </c:pt>
                <c:pt idx="9">
                  <c:v>50</c:v>
                </c:pt>
                <c:pt idx="10">
                  <c:v>13</c:v>
                </c:pt>
                <c:pt idx="11">
                  <c:v>53</c:v>
                </c:pt>
                <c:pt idx="12">
                  <c:v>22</c:v>
                </c:pt>
                <c:pt idx="13">
                  <c:v>20</c:v>
                </c:pt>
                <c:pt idx="14">
                  <c:v>27</c:v>
                </c:pt>
                <c:pt idx="15">
                  <c:v>55</c:v>
                </c:pt>
                <c:pt idx="16">
                  <c:v>57</c:v>
                </c:pt>
                <c:pt idx="17">
                  <c:v>17</c:v>
                </c:pt>
                <c:pt idx="18">
                  <c:v>39</c:v>
                </c:pt>
                <c:pt idx="19">
                  <c:v>18</c:v>
                </c:pt>
                <c:pt idx="20">
                  <c:v>32</c:v>
                </c:pt>
                <c:pt idx="21">
                  <c:v>21</c:v>
                </c:pt>
                <c:pt idx="22">
                  <c:v>26</c:v>
                </c:pt>
                <c:pt idx="23">
                  <c:v>45</c:v>
                </c:pt>
                <c:pt idx="24">
                  <c:v>12</c:v>
                </c:pt>
                <c:pt idx="25">
                  <c:v>25</c:v>
                </c:pt>
                <c:pt idx="26">
                  <c:v>16</c:v>
                </c:pt>
                <c:pt idx="27">
                  <c:v>36</c:v>
                </c:pt>
                <c:pt idx="28">
                  <c:v>2</c:v>
                </c:pt>
                <c:pt idx="29">
                  <c:v>30</c:v>
                </c:pt>
                <c:pt idx="30">
                  <c:v>38</c:v>
                </c:pt>
                <c:pt idx="31">
                  <c:v>51</c:v>
                </c:pt>
                <c:pt idx="32">
                  <c:v>40</c:v>
                </c:pt>
                <c:pt idx="33">
                  <c:v>52</c:v>
                </c:pt>
                <c:pt idx="34">
                  <c:v>54</c:v>
                </c:pt>
                <c:pt idx="35">
                  <c:v>28</c:v>
                </c:pt>
                <c:pt idx="36">
                  <c:v>24</c:v>
                </c:pt>
                <c:pt idx="37">
                  <c:v>49</c:v>
                </c:pt>
                <c:pt idx="38">
                  <c:v>44</c:v>
                </c:pt>
                <c:pt idx="39">
                  <c:v>59</c:v>
                </c:pt>
                <c:pt idx="40">
                  <c:v>4</c:v>
                </c:pt>
                <c:pt idx="41">
                  <c:v>7</c:v>
                </c:pt>
                <c:pt idx="42">
                  <c:v>33</c:v>
                </c:pt>
                <c:pt idx="43">
                  <c:v>11</c:v>
                </c:pt>
                <c:pt idx="44">
                  <c:v>15</c:v>
                </c:pt>
                <c:pt idx="45">
                  <c:v>35</c:v>
                </c:pt>
                <c:pt idx="46">
                  <c:v>8</c:v>
                </c:pt>
                <c:pt idx="47">
                  <c:v>43</c:v>
                </c:pt>
                <c:pt idx="48">
                  <c:v>23</c:v>
                </c:pt>
                <c:pt idx="49">
                  <c:v>29</c:v>
                </c:pt>
                <c:pt idx="50">
                  <c:v>41</c:v>
                </c:pt>
                <c:pt idx="51">
                  <c:v>48</c:v>
                </c:pt>
                <c:pt idx="52">
                  <c:v>31</c:v>
                </c:pt>
                <c:pt idx="53">
                  <c:v>47</c:v>
                </c:pt>
                <c:pt idx="54">
                  <c:v>19</c:v>
                </c:pt>
                <c:pt idx="55">
                  <c:v>10</c:v>
                </c:pt>
                <c:pt idx="56">
                  <c:v>56</c:v>
                </c:pt>
                <c:pt idx="57">
                  <c:v>9</c:v>
                </c:pt>
                <c:pt idx="58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38A-4F3D-BFB0-B23EA963E685}"/>
            </c:ext>
          </c:extLst>
        </c:ser>
        <c:ser>
          <c:idx val="1"/>
          <c:order val="1"/>
          <c:tx>
            <c:strRef>
              <c:f>'ob7'!$B$1</c:f>
              <c:strCache>
                <c:ptCount val="1"/>
                <c:pt idx="0">
                  <c:v>customer_name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'ob7'!$B$2:$B$60</c:f>
              <c:numCache>
                <c:formatCode>General</c:formatCode>
                <c:ptCount val="5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8A-4F3D-BFB0-B23EA963E685}"/>
            </c:ext>
          </c:extLst>
        </c:ser>
        <c:ser>
          <c:idx val="2"/>
          <c:order val="2"/>
          <c:tx>
            <c:strRef>
              <c:f>'ob7'!$C$1</c:f>
              <c:strCache>
                <c:ptCount val="1"/>
                <c:pt idx="0">
                  <c:v>country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'ob7'!$C$2:$C$60</c:f>
              <c:numCache>
                <c:formatCode>General</c:formatCode>
                <c:ptCount val="5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38A-4F3D-BFB0-B23EA963E685}"/>
            </c:ext>
          </c:extLst>
        </c:ser>
        <c:ser>
          <c:idx val="3"/>
          <c:order val="3"/>
          <c:tx>
            <c:strRef>
              <c:f>'ob7'!$D$1</c:f>
              <c:strCache>
                <c:ptCount val="1"/>
                <c:pt idx="0">
                  <c:v>purchase_frequency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'ob7'!$D$2:$D$60</c:f>
              <c:numCache>
                <c:formatCode>General</c:formatCode>
                <c:ptCount val="59"/>
                <c:pt idx="0">
                  <c:v>18</c:v>
                </c:pt>
                <c:pt idx="1">
                  <c:v>12</c:v>
                </c:pt>
                <c:pt idx="2">
                  <c:v>13</c:v>
                </c:pt>
                <c:pt idx="3">
                  <c:v>9</c:v>
                </c:pt>
                <c:pt idx="4">
                  <c:v>11</c:v>
                </c:pt>
                <c:pt idx="5">
                  <c:v>13</c:v>
                </c:pt>
                <c:pt idx="6">
                  <c:v>13</c:v>
                </c:pt>
                <c:pt idx="7">
                  <c:v>13</c:v>
                </c:pt>
                <c:pt idx="8">
                  <c:v>10</c:v>
                </c:pt>
                <c:pt idx="9">
                  <c:v>11</c:v>
                </c:pt>
                <c:pt idx="10">
                  <c:v>15</c:v>
                </c:pt>
                <c:pt idx="11">
                  <c:v>11</c:v>
                </c:pt>
                <c:pt idx="12">
                  <c:v>12</c:v>
                </c:pt>
                <c:pt idx="13">
                  <c:v>12</c:v>
                </c:pt>
                <c:pt idx="14">
                  <c:v>9</c:v>
                </c:pt>
                <c:pt idx="15">
                  <c:v>10</c:v>
                </c:pt>
                <c:pt idx="16">
                  <c:v>13</c:v>
                </c:pt>
                <c:pt idx="17">
                  <c:v>12</c:v>
                </c:pt>
                <c:pt idx="18">
                  <c:v>9</c:v>
                </c:pt>
                <c:pt idx="19">
                  <c:v>8</c:v>
                </c:pt>
                <c:pt idx="20">
                  <c:v>8</c:v>
                </c:pt>
                <c:pt idx="21">
                  <c:v>11</c:v>
                </c:pt>
                <c:pt idx="22">
                  <c:v>12</c:v>
                </c:pt>
                <c:pt idx="23">
                  <c:v>10</c:v>
                </c:pt>
                <c:pt idx="24">
                  <c:v>11</c:v>
                </c:pt>
                <c:pt idx="25">
                  <c:v>10</c:v>
                </c:pt>
                <c:pt idx="26">
                  <c:v>8</c:v>
                </c:pt>
                <c:pt idx="27">
                  <c:v>11</c:v>
                </c:pt>
                <c:pt idx="28">
                  <c:v>11</c:v>
                </c:pt>
                <c:pt idx="29">
                  <c:v>13</c:v>
                </c:pt>
                <c:pt idx="30">
                  <c:v>9</c:v>
                </c:pt>
                <c:pt idx="31">
                  <c:v>10</c:v>
                </c:pt>
                <c:pt idx="32">
                  <c:v>9</c:v>
                </c:pt>
                <c:pt idx="33">
                  <c:v>8</c:v>
                </c:pt>
                <c:pt idx="34">
                  <c:v>9</c:v>
                </c:pt>
                <c:pt idx="35">
                  <c:v>10</c:v>
                </c:pt>
                <c:pt idx="36">
                  <c:v>8</c:v>
                </c:pt>
                <c:pt idx="37">
                  <c:v>10</c:v>
                </c:pt>
                <c:pt idx="38">
                  <c:v>11</c:v>
                </c:pt>
                <c:pt idx="39">
                  <c:v>8</c:v>
                </c:pt>
                <c:pt idx="40">
                  <c:v>9</c:v>
                </c:pt>
                <c:pt idx="41">
                  <c:v>9</c:v>
                </c:pt>
                <c:pt idx="42">
                  <c:v>12</c:v>
                </c:pt>
                <c:pt idx="43">
                  <c:v>10</c:v>
                </c:pt>
                <c:pt idx="44">
                  <c:v>9</c:v>
                </c:pt>
                <c:pt idx="45">
                  <c:v>16</c:v>
                </c:pt>
                <c:pt idx="46">
                  <c:v>7</c:v>
                </c:pt>
                <c:pt idx="47">
                  <c:v>12</c:v>
                </c:pt>
                <c:pt idx="48">
                  <c:v>10</c:v>
                </c:pt>
                <c:pt idx="49">
                  <c:v>4</c:v>
                </c:pt>
                <c:pt idx="50">
                  <c:v>9</c:v>
                </c:pt>
                <c:pt idx="51">
                  <c:v>10</c:v>
                </c:pt>
                <c:pt idx="52">
                  <c:v>11</c:v>
                </c:pt>
                <c:pt idx="53">
                  <c:v>9</c:v>
                </c:pt>
                <c:pt idx="54">
                  <c:v>9</c:v>
                </c:pt>
                <c:pt idx="55">
                  <c:v>12</c:v>
                </c:pt>
                <c:pt idx="56">
                  <c:v>5</c:v>
                </c:pt>
                <c:pt idx="57">
                  <c:v>10</c:v>
                </c:pt>
                <c:pt idx="58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38A-4F3D-BFB0-B23EA963E685}"/>
            </c:ext>
          </c:extLst>
        </c:ser>
        <c:ser>
          <c:idx val="4"/>
          <c:order val="4"/>
          <c:tx>
            <c:strRef>
              <c:f>'ob7'!$E$1</c:f>
              <c:strCache>
                <c:ptCount val="1"/>
                <c:pt idx="0">
                  <c:v>total_spent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'ob7'!$E$2:$E$60</c:f>
              <c:numCache>
                <c:formatCode>General</c:formatCode>
                <c:ptCount val="59"/>
                <c:pt idx="0">
                  <c:v>1683</c:v>
                </c:pt>
                <c:pt idx="1">
                  <c:v>1500.84</c:v>
                </c:pt>
                <c:pt idx="2">
                  <c:v>1433.52</c:v>
                </c:pt>
                <c:pt idx="3">
                  <c:v>1367.19</c:v>
                </c:pt>
                <c:pt idx="4">
                  <c:v>1248.3900000000001</c:v>
                </c:pt>
                <c:pt idx="5">
                  <c:v>1218.69</c:v>
                </c:pt>
                <c:pt idx="6">
                  <c:v>1182.06</c:v>
                </c:pt>
                <c:pt idx="7">
                  <c:v>1144.44</c:v>
                </c:pt>
                <c:pt idx="8">
                  <c:v>1095.93</c:v>
                </c:pt>
                <c:pt idx="9">
                  <c:v>1076.1300000000001</c:v>
                </c:pt>
                <c:pt idx="10">
                  <c:v>1025.6400000000001</c:v>
                </c:pt>
                <c:pt idx="11">
                  <c:v>1024.6500000000001</c:v>
                </c:pt>
                <c:pt idx="12">
                  <c:v>1002.87</c:v>
                </c:pt>
                <c:pt idx="13">
                  <c:v>966.24</c:v>
                </c:pt>
                <c:pt idx="14">
                  <c:v>943.47</c:v>
                </c:pt>
                <c:pt idx="15">
                  <c:v>940.5</c:v>
                </c:pt>
                <c:pt idx="16">
                  <c:v>912.78</c:v>
                </c:pt>
                <c:pt idx="17">
                  <c:v>909.81</c:v>
                </c:pt>
                <c:pt idx="18">
                  <c:v>869.22</c:v>
                </c:pt>
                <c:pt idx="19">
                  <c:v>867.24</c:v>
                </c:pt>
                <c:pt idx="20">
                  <c:v>862.29</c:v>
                </c:pt>
                <c:pt idx="21">
                  <c:v>841.5</c:v>
                </c:pt>
                <c:pt idx="22">
                  <c:v>840.51</c:v>
                </c:pt>
                <c:pt idx="23">
                  <c:v>830.61</c:v>
                </c:pt>
                <c:pt idx="24">
                  <c:v>820.71</c:v>
                </c:pt>
                <c:pt idx="25">
                  <c:v>810.81</c:v>
                </c:pt>
                <c:pt idx="26">
                  <c:v>806.85</c:v>
                </c:pt>
                <c:pt idx="27">
                  <c:v>790.02</c:v>
                </c:pt>
                <c:pt idx="28">
                  <c:v>789.03</c:v>
                </c:pt>
                <c:pt idx="29">
                  <c:v>782.1</c:v>
                </c:pt>
                <c:pt idx="30">
                  <c:v>766.26</c:v>
                </c:pt>
                <c:pt idx="31">
                  <c:v>754.38</c:v>
                </c:pt>
                <c:pt idx="32">
                  <c:v>747.45</c:v>
                </c:pt>
                <c:pt idx="33">
                  <c:v>741.51</c:v>
                </c:pt>
                <c:pt idx="34">
                  <c:v>732.6</c:v>
                </c:pt>
                <c:pt idx="35">
                  <c:v>719.73</c:v>
                </c:pt>
                <c:pt idx="36">
                  <c:v>691.02</c:v>
                </c:pt>
                <c:pt idx="37">
                  <c:v>690.03</c:v>
                </c:pt>
                <c:pt idx="38">
                  <c:v>685.08</c:v>
                </c:pt>
                <c:pt idx="39">
                  <c:v>669.24</c:v>
                </c:pt>
                <c:pt idx="40">
                  <c:v>664.29</c:v>
                </c:pt>
                <c:pt idx="41">
                  <c:v>649.44000000000005</c:v>
                </c:pt>
                <c:pt idx="42">
                  <c:v>647.46</c:v>
                </c:pt>
                <c:pt idx="43">
                  <c:v>619.74</c:v>
                </c:pt>
                <c:pt idx="44">
                  <c:v>612.80999999999995</c:v>
                </c:pt>
                <c:pt idx="45">
                  <c:v>610.83000000000004</c:v>
                </c:pt>
                <c:pt idx="46">
                  <c:v>567.27</c:v>
                </c:pt>
                <c:pt idx="47">
                  <c:v>556.38</c:v>
                </c:pt>
                <c:pt idx="48">
                  <c:v>555.39</c:v>
                </c:pt>
                <c:pt idx="49">
                  <c:v>555.39</c:v>
                </c:pt>
                <c:pt idx="50">
                  <c:v>551.42999999999995</c:v>
                </c:pt>
                <c:pt idx="51">
                  <c:v>544.5</c:v>
                </c:pt>
                <c:pt idx="52">
                  <c:v>503.91</c:v>
                </c:pt>
                <c:pt idx="53">
                  <c:v>468.27</c:v>
                </c:pt>
                <c:pt idx="54">
                  <c:v>450.45</c:v>
                </c:pt>
                <c:pt idx="55">
                  <c:v>410.85</c:v>
                </c:pt>
                <c:pt idx="56">
                  <c:v>396</c:v>
                </c:pt>
                <c:pt idx="57">
                  <c:v>196.02</c:v>
                </c:pt>
                <c:pt idx="58">
                  <c:v>158.4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38A-4F3D-BFB0-B23EA963E685}"/>
            </c:ext>
          </c:extLst>
        </c:ser>
        <c:ser>
          <c:idx val="5"/>
          <c:order val="5"/>
          <c:tx>
            <c:strRef>
              <c:f>'ob7'!$F$1</c:f>
              <c:strCache>
                <c:ptCount val="1"/>
                <c:pt idx="0">
                  <c:v>avg_order_value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'ob7'!$F$2:$F$60</c:f>
              <c:numCache>
                <c:formatCode>General</c:formatCode>
                <c:ptCount val="59"/>
                <c:pt idx="0">
                  <c:v>11.53</c:v>
                </c:pt>
                <c:pt idx="1">
                  <c:v>11.54</c:v>
                </c:pt>
                <c:pt idx="2">
                  <c:v>12.36</c:v>
                </c:pt>
                <c:pt idx="3">
                  <c:v>13.54</c:v>
                </c:pt>
                <c:pt idx="4">
                  <c:v>12.36</c:v>
                </c:pt>
                <c:pt idx="5">
                  <c:v>10.78</c:v>
                </c:pt>
                <c:pt idx="6">
                  <c:v>10.75</c:v>
                </c:pt>
                <c:pt idx="7">
                  <c:v>11</c:v>
                </c:pt>
                <c:pt idx="8">
                  <c:v>11.54</c:v>
                </c:pt>
                <c:pt idx="9">
                  <c:v>10.87</c:v>
                </c:pt>
                <c:pt idx="10">
                  <c:v>9.5</c:v>
                </c:pt>
                <c:pt idx="11">
                  <c:v>10.35</c:v>
                </c:pt>
                <c:pt idx="12">
                  <c:v>10.78</c:v>
                </c:pt>
                <c:pt idx="13">
                  <c:v>10.07</c:v>
                </c:pt>
                <c:pt idx="14">
                  <c:v>11.1</c:v>
                </c:pt>
                <c:pt idx="15">
                  <c:v>11.47</c:v>
                </c:pt>
                <c:pt idx="16">
                  <c:v>9.31</c:v>
                </c:pt>
                <c:pt idx="17">
                  <c:v>9.19</c:v>
                </c:pt>
                <c:pt idx="18">
                  <c:v>10.87</c:v>
                </c:pt>
                <c:pt idx="19">
                  <c:v>10.84</c:v>
                </c:pt>
                <c:pt idx="20">
                  <c:v>12.14</c:v>
                </c:pt>
                <c:pt idx="21">
                  <c:v>9.15</c:v>
                </c:pt>
                <c:pt idx="22">
                  <c:v>9.66</c:v>
                </c:pt>
                <c:pt idx="23">
                  <c:v>10.51</c:v>
                </c:pt>
                <c:pt idx="24">
                  <c:v>9.89</c:v>
                </c:pt>
                <c:pt idx="25">
                  <c:v>10.53</c:v>
                </c:pt>
                <c:pt idx="26">
                  <c:v>10.76</c:v>
                </c:pt>
                <c:pt idx="27">
                  <c:v>9.19</c:v>
                </c:pt>
                <c:pt idx="28">
                  <c:v>9.51</c:v>
                </c:pt>
                <c:pt idx="29">
                  <c:v>8.5</c:v>
                </c:pt>
                <c:pt idx="30">
                  <c:v>10.35</c:v>
                </c:pt>
                <c:pt idx="31">
                  <c:v>9.93</c:v>
                </c:pt>
                <c:pt idx="32">
                  <c:v>10.24</c:v>
                </c:pt>
                <c:pt idx="33">
                  <c:v>10.75</c:v>
                </c:pt>
                <c:pt idx="34">
                  <c:v>9.16</c:v>
                </c:pt>
                <c:pt idx="35">
                  <c:v>9.86</c:v>
                </c:pt>
                <c:pt idx="36">
                  <c:v>9.6</c:v>
                </c:pt>
                <c:pt idx="37">
                  <c:v>8.9600000000000009</c:v>
                </c:pt>
                <c:pt idx="38">
                  <c:v>8.56</c:v>
                </c:pt>
                <c:pt idx="39">
                  <c:v>9.3000000000000007</c:v>
                </c:pt>
                <c:pt idx="40">
                  <c:v>9.1</c:v>
                </c:pt>
                <c:pt idx="41">
                  <c:v>9.2799999999999994</c:v>
                </c:pt>
                <c:pt idx="42">
                  <c:v>8.52</c:v>
                </c:pt>
                <c:pt idx="43">
                  <c:v>8.85</c:v>
                </c:pt>
                <c:pt idx="44">
                  <c:v>9.15</c:v>
                </c:pt>
                <c:pt idx="45">
                  <c:v>7.36</c:v>
                </c:pt>
                <c:pt idx="46">
                  <c:v>9.3000000000000007</c:v>
                </c:pt>
                <c:pt idx="47">
                  <c:v>7.52</c:v>
                </c:pt>
                <c:pt idx="48">
                  <c:v>8.2899999999999991</c:v>
                </c:pt>
                <c:pt idx="49">
                  <c:v>13.55</c:v>
                </c:pt>
                <c:pt idx="50">
                  <c:v>8.48</c:v>
                </c:pt>
                <c:pt idx="51">
                  <c:v>8.25</c:v>
                </c:pt>
                <c:pt idx="52">
                  <c:v>8</c:v>
                </c:pt>
                <c:pt idx="53">
                  <c:v>9.18</c:v>
                </c:pt>
                <c:pt idx="54">
                  <c:v>8.19</c:v>
                </c:pt>
                <c:pt idx="55">
                  <c:v>6.74</c:v>
                </c:pt>
                <c:pt idx="56">
                  <c:v>9.9</c:v>
                </c:pt>
                <c:pt idx="57">
                  <c:v>5.16</c:v>
                </c:pt>
                <c:pt idx="58">
                  <c:v>5.28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38A-4F3D-BFB0-B23EA963E685}"/>
            </c:ext>
          </c:extLst>
        </c:ser>
        <c:ser>
          <c:idx val="6"/>
          <c:order val="6"/>
          <c:tx>
            <c:strRef>
              <c:f>'ob7'!$G$1</c:f>
              <c:strCache>
                <c:ptCount val="1"/>
                <c:pt idx="0">
                  <c:v>total_tracks_bought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'ob7'!$G$2:$G$60</c:f>
              <c:numCache>
                <c:formatCode>General</c:formatCode>
                <c:ptCount val="59"/>
                <c:pt idx="0">
                  <c:v>146</c:v>
                </c:pt>
                <c:pt idx="1">
                  <c:v>130</c:v>
                </c:pt>
                <c:pt idx="2">
                  <c:v>116</c:v>
                </c:pt>
                <c:pt idx="3">
                  <c:v>101</c:v>
                </c:pt>
                <c:pt idx="4">
                  <c:v>101</c:v>
                </c:pt>
                <c:pt idx="5">
                  <c:v>113</c:v>
                </c:pt>
                <c:pt idx="6">
                  <c:v>110</c:v>
                </c:pt>
                <c:pt idx="7">
                  <c:v>104</c:v>
                </c:pt>
                <c:pt idx="8">
                  <c:v>95</c:v>
                </c:pt>
                <c:pt idx="9">
                  <c:v>99</c:v>
                </c:pt>
                <c:pt idx="10">
                  <c:v>108</c:v>
                </c:pt>
                <c:pt idx="11">
                  <c:v>99</c:v>
                </c:pt>
                <c:pt idx="12">
                  <c:v>93</c:v>
                </c:pt>
                <c:pt idx="13">
                  <c:v>96</c:v>
                </c:pt>
                <c:pt idx="14">
                  <c:v>85</c:v>
                </c:pt>
                <c:pt idx="15">
                  <c:v>82</c:v>
                </c:pt>
                <c:pt idx="16">
                  <c:v>98</c:v>
                </c:pt>
                <c:pt idx="17">
                  <c:v>99</c:v>
                </c:pt>
                <c:pt idx="18">
                  <c:v>80</c:v>
                </c:pt>
                <c:pt idx="19">
                  <c:v>80</c:v>
                </c:pt>
                <c:pt idx="20">
                  <c:v>71</c:v>
                </c:pt>
                <c:pt idx="21">
                  <c:v>92</c:v>
                </c:pt>
                <c:pt idx="22">
                  <c:v>87</c:v>
                </c:pt>
                <c:pt idx="23">
                  <c:v>79</c:v>
                </c:pt>
                <c:pt idx="24">
                  <c:v>83</c:v>
                </c:pt>
                <c:pt idx="25">
                  <c:v>77</c:v>
                </c:pt>
                <c:pt idx="26">
                  <c:v>75</c:v>
                </c:pt>
                <c:pt idx="27">
                  <c:v>86</c:v>
                </c:pt>
                <c:pt idx="28">
                  <c:v>83</c:v>
                </c:pt>
                <c:pt idx="29">
                  <c:v>92</c:v>
                </c:pt>
                <c:pt idx="30">
                  <c:v>74</c:v>
                </c:pt>
                <c:pt idx="31">
                  <c:v>76</c:v>
                </c:pt>
                <c:pt idx="32">
                  <c:v>73</c:v>
                </c:pt>
                <c:pt idx="33">
                  <c:v>69</c:v>
                </c:pt>
                <c:pt idx="34">
                  <c:v>80</c:v>
                </c:pt>
                <c:pt idx="35">
                  <c:v>73</c:v>
                </c:pt>
                <c:pt idx="36">
                  <c:v>72</c:v>
                </c:pt>
                <c:pt idx="37">
                  <c:v>77</c:v>
                </c:pt>
                <c:pt idx="38">
                  <c:v>80</c:v>
                </c:pt>
                <c:pt idx="39">
                  <c:v>72</c:v>
                </c:pt>
                <c:pt idx="40">
                  <c:v>73</c:v>
                </c:pt>
                <c:pt idx="41">
                  <c:v>70</c:v>
                </c:pt>
                <c:pt idx="42">
                  <c:v>76</c:v>
                </c:pt>
                <c:pt idx="43">
                  <c:v>70</c:v>
                </c:pt>
                <c:pt idx="44">
                  <c:v>67</c:v>
                </c:pt>
                <c:pt idx="45">
                  <c:v>83</c:v>
                </c:pt>
                <c:pt idx="46">
                  <c:v>61</c:v>
                </c:pt>
                <c:pt idx="47">
                  <c:v>74</c:v>
                </c:pt>
                <c:pt idx="48">
                  <c:v>67</c:v>
                </c:pt>
                <c:pt idx="49">
                  <c:v>41</c:v>
                </c:pt>
                <c:pt idx="50">
                  <c:v>65</c:v>
                </c:pt>
                <c:pt idx="51">
                  <c:v>66</c:v>
                </c:pt>
                <c:pt idx="52">
                  <c:v>63</c:v>
                </c:pt>
                <c:pt idx="53">
                  <c:v>51</c:v>
                </c:pt>
                <c:pt idx="54">
                  <c:v>55</c:v>
                </c:pt>
                <c:pt idx="55">
                  <c:v>61</c:v>
                </c:pt>
                <c:pt idx="56">
                  <c:v>40</c:v>
                </c:pt>
                <c:pt idx="57">
                  <c:v>38</c:v>
                </c:pt>
                <c:pt idx="58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38A-4F3D-BFB0-B23EA963E685}"/>
            </c:ext>
          </c:extLst>
        </c:ser>
        <c:ser>
          <c:idx val="7"/>
          <c:order val="7"/>
          <c:tx>
            <c:strRef>
              <c:f>'ob7'!$H$1</c:f>
              <c:strCache>
                <c:ptCount val="1"/>
                <c:pt idx="0">
                  <c:v>avg_tracks_per_order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'ob7'!$H$2:$H$60</c:f>
              <c:numCache>
                <c:formatCode>General</c:formatCode>
                <c:ptCount val="59"/>
                <c:pt idx="0">
                  <c:v>8.11</c:v>
                </c:pt>
                <c:pt idx="1">
                  <c:v>10.83</c:v>
                </c:pt>
                <c:pt idx="2">
                  <c:v>8.92</c:v>
                </c:pt>
                <c:pt idx="3">
                  <c:v>11.22</c:v>
                </c:pt>
                <c:pt idx="4">
                  <c:v>9.18</c:v>
                </c:pt>
                <c:pt idx="5">
                  <c:v>8.69</c:v>
                </c:pt>
                <c:pt idx="6">
                  <c:v>8.4600000000000009</c:v>
                </c:pt>
                <c:pt idx="7">
                  <c:v>8</c:v>
                </c:pt>
                <c:pt idx="8">
                  <c:v>9.5</c:v>
                </c:pt>
                <c:pt idx="9">
                  <c:v>9</c:v>
                </c:pt>
                <c:pt idx="10">
                  <c:v>7.2</c:v>
                </c:pt>
                <c:pt idx="11">
                  <c:v>9</c:v>
                </c:pt>
                <c:pt idx="12">
                  <c:v>7.75</c:v>
                </c:pt>
                <c:pt idx="13">
                  <c:v>8</c:v>
                </c:pt>
                <c:pt idx="14">
                  <c:v>9.44</c:v>
                </c:pt>
                <c:pt idx="15">
                  <c:v>8.1999999999999993</c:v>
                </c:pt>
                <c:pt idx="16">
                  <c:v>7.54</c:v>
                </c:pt>
                <c:pt idx="17">
                  <c:v>8.25</c:v>
                </c:pt>
                <c:pt idx="18">
                  <c:v>8.89</c:v>
                </c:pt>
                <c:pt idx="19">
                  <c:v>10</c:v>
                </c:pt>
                <c:pt idx="20">
                  <c:v>8.8800000000000008</c:v>
                </c:pt>
                <c:pt idx="21">
                  <c:v>8.36</c:v>
                </c:pt>
                <c:pt idx="22">
                  <c:v>7.25</c:v>
                </c:pt>
                <c:pt idx="23">
                  <c:v>7.9</c:v>
                </c:pt>
                <c:pt idx="24">
                  <c:v>7.55</c:v>
                </c:pt>
                <c:pt idx="25">
                  <c:v>7.7</c:v>
                </c:pt>
                <c:pt idx="26">
                  <c:v>9.3800000000000008</c:v>
                </c:pt>
                <c:pt idx="27">
                  <c:v>7.82</c:v>
                </c:pt>
                <c:pt idx="28">
                  <c:v>7.55</c:v>
                </c:pt>
                <c:pt idx="29">
                  <c:v>7.08</c:v>
                </c:pt>
                <c:pt idx="30">
                  <c:v>8.2200000000000006</c:v>
                </c:pt>
                <c:pt idx="31">
                  <c:v>7.6</c:v>
                </c:pt>
                <c:pt idx="32">
                  <c:v>8.11</c:v>
                </c:pt>
                <c:pt idx="33">
                  <c:v>8.6300000000000008</c:v>
                </c:pt>
                <c:pt idx="34">
                  <c:v>8.89</c:v>
                </c:pt>
                <c:pt idx="35">
                  <c:v>7.3</c:v>
                </c:pt>
                <c:pt idx="36">
                  <c:v>9</c:v>
                </c:pt>
                <c:pt idx="37">
                  <c:v>7.7</c:v>
                </c:pt>
                <c:pt idx="38">
                  <c:v>7.27</c:v>
                </c:pt>
                <c:pt idx="39">
                  <c:v>9</c:v>
                </c:pt>
                <c:pt idx="40">
                  <c:v>8.11</c:v>
                </c:pt>
                <c:pt idx="41">
                  <c:v>7.78</c:v>
                </c:pt>
                <c:pt idx="42">
                  <c:v>6.33</c:v>
                </c:pt>
                <c:pt idx="43">
                  <c:v>7</c:v>
                </c:pt>
                <c:pt idx="44">
                  <c:v>7.44</c:v>
                </c:pt>
                <c:pt idx="45">
                  <c:v>5.19</c:v>
                </c:pt>
                <c:pt idx="46">
                  <c:v>8.7100000000000009</c:v>
                </c:pt>
                <c:pt idx="47">
                  <c:v>6.17</c:v>
                </c:pt>
                <c:pt idx="48">
                  <c:v>6.7</c:v>
                </c:pt>
                <c:pt idx="49">
                  <c:v>10.25</c:v>
                </c:pt>
                <c:pt idx="50">
                  <c:v>7.22</c:v>
                </c:pt>
                <c:pt idx="51">
                  <c:v>6.6</c:v>
                </c:pt>
                <c:pt idx="52">
                  <c:v>5.73</c:v>
                </c:pt>
                <c:pt idx="53">
                  <c:v>5.67</c:v>
                </c:pt>
                <c:pt idx="54">
                  <c:v>6.11</c:v>
                </c:pt>
                <c:pt idx="55">
                  <c:v>5.08</c:v>
                </c:pt>
                <c:pt idx="56">
                  <c:v>8</c:v>
                </c:pt>
                <c:pt idx="57">
                  <c:v>3.8</c:v>
                </c:pt>
                <c:pt idx="58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F38A-4F3D-BFB0-B23EA963E685}"/>
            </c:ext>
          </c:extLst>
        </c:ser>
        <c:ser>
          <c:idx val="8"/>
          <c:order val="8"/>
          <c:tx>
            <c:strRef>
              <c:f>'ob7'!$I$1</c:f>
              <c:strCache>
                <c:ptCount val="1"/>
                <c:pt idx="0">
                  <c:v>first_purchase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'ob7'!$I$2:$I$60</c:f>
              <c:numCache>
                <c:formatCode>m/d/yyyy</c:formatCode>
                <c:ptCount val="59"/>
                <c:pt idx="0">
                  <c:v>42884</c:v>
                </c:pt>
                <c:pt idx="1">
                  <c:v>42978</c:v>
                </c:pt>
                <c:pt idx="2">
                  <c:v>42784</c:v>
                </c:pt>
                <c:pt idx="3">
                  <c:v>42787</c:v>
                </c:pt>
                <c:pt idx="4">
                  <c:v>42756</c:v>
                </c:pt>
                <c:pt idx="5">
                  <c:v>42787</c:v>
                </c:pt>
                <c:pt idx="6">
                  <c:v>42761</c:v>
                </c:pt>
                <c:pt idx="7">
                  <c:v>42791</c:v>
                </c:pt>
                <c:pt idx="8">
                  <c:v>42807</c:v>
                </c:pt>
                <c:pt idx="9">
                  <c:v>42811</c:v>
                </c:pt>
                <c:pt idx="10">
                  <c:v>42873</c:v>
                </c:pt>
                <c:pt idx="11">
                  <c:v>42775</c:v>
                </c:pt>
                <c:pt idx="12">
                  <c:v>42813</c:v>
                </c:pt>
                <c:pt idx="13">
                  <c:v>42763</c:v>
                </c:pt>
                <c:pt idx="14">
                  <c:v>42742</c:v>
                </c:pt>
                <c:pt idx="15">
                  <c:v>42781</c:v>
                </c:pt>
                <c:pt idx="16">
                  <c:v>42819</c:v>
                </c:pt>
                <c:pt idx="17">
                  <c:v>42939</c:v>
                </c:pt>
                <c:pt idx="18">
                  <c:v>42777</c:v>
                </c:pt>
                <c:pt idx="19">
                  <c:v>42738</c:v>
                </c:pt>
                <c:pt idx="20">
                  <c:v>42918</c:v>
                </c:pt>
                <c:pt idx="21">
                  <c:v>42814</c:v>
                </c:pt>
                <c:pt idx="22">
                  <c:v>42838</c:v>
                </c:pt>
                <c:pt idx="23">
                  <c:v>42783</c:v>
                </c:pt>
                <c:pt idx="24">
                  <c:v>42783</c:v>
                </c:pt>
                <c:pt idx="25">
                  <c:v>42758</c:v>
                </c:pt>
                <c:pt idx="26">
                  <c:v>42854</c:v>
                </c:pt>
                <c:pt idx="27">
                  <c:v>42818</c:v>
                </c:pt>
                <c:pt idx="28">
                  <c:v>42864</c:v>
                </c:pt>
                <c:pt idx="29">
                  <c:v>42738</c:v>
                </c:pt>
                <c:pt idx="30">
                  <c:v>42755</c:v>
                </c:pt>
                <c:pt idx="31">
                  <c:v>42793</c:v>
                </c:pt>
                <c:pt idx="32">
                  <c:v>42740</c:v>
                </c:pt>
                <c:pt idx="33">
                  <c:v>42850</c:v>
                </c:pt>
                <c:pt idx="34">
                  <c:v>42966</c:v>
                </c:pt>
                <c:pt idx="35">
                  <c:v>42988</c:v>
                </c:pt>
                <c:pt idx="36">
                  <c:v>42768</c:v>
                </c:pt>
                <c:pt idx="37">
                  <c:v>42747</c:v>
                </c:pt>
                <c:pt idx="38">
                  <c:v>42760</c:v>
                </c:pt>
                <c:pt idx="39">
                  <c:v>42748</c:v>
                </c:pt>
                <c:pt idx="40">
                  <c:v>42776</c:v>
                </c:pt>
                <c:pt idx="41">
                  <c:v>43001</c:v>
                </c:pt>
                <c:pt idx="42">
                  <c:v>42789</c:v>
                </c:pt>
                <c:pt idx="43">
                  <c:v>43033</c:v>
                </c:pt>
                <c:pt idx="44">
                  <c:v>42849</c:v>
                </c:pt>
                <c:pt idx="45">
                  <c:v>42757</c:v>
                </c:pt>
                <c:pt idx="46">
                  <c:v>42938</c:v>
                </c:pt>
                <c:pt idx="47">
                  <c:v>42772</c:v>
                </c:pt>
                <c:pt idx="48">
                  <c:v>43042</c:v>
                </c:pt>
                <c:pt idx="49">
                  <c:v>42997</c:v>
                </c:pt>
                <c:pt idx="50">
                  <c:v>43109</c:v>
                </c:pt>
                <c:pt idx="51">
                  <c:v>42901</c:v>
                </c:pt>
                <c:pt idx="52">
                  <c:v>42745</c:v>
                </c:pt>
                <c:pt idx="53">
                  <c:v>42851</c:v>
                </c:pt>
                <c:pt idx="54">
                  <c:v>42812</c:v>
                </c:pt>
                <c:pt idx="55">
                  <c:v>42772</c:v>
                </c:pt>
                <c:pt idx="56">
                  <c:v>43209</c:v>
                </c:pt>
                <c:pt idx="57">
                  <c:v>42773</c:v>
                </c:pt>
                <c:pt idx="58">
                  <c:v>43030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F38A-4F3D-BFB0-B23EA963E685}"/>
            </c:ext>
          </c:extLst>
        </c:ser>
        <c:ser>
          <c:idx val="9"/>
          <c:order val="9"/>
          <c:tx>
            <c:strRef>
              <c:f>'ob7'!$J$1</c:f>
              <c:strCache>
                <c:ptCount val="1"/>
                <c:pt idx="0">
                  <c:v>last_purchase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'ob7'!$J$2:$J$60</c:f>
              <c:numCache>
                <c:formatCode>m/d/yyyy</c:formatCode>
                <c:ptCount val="59"/>
                <c:pt idx="0">
                  <c:v>44147</c:v>
                </c:pt>
                <c:pt idx="1">
                  <c:v>44127</c:v>
                </c:pt>
                <c:pt idx="2">
                  <c:v>44177</c:v>
                </c:pt>
                <c:pt idx="3">
                  <c:v>43967</c:v>
                </c:pt>
                <c:pt idx="4">
                  <c:v>44162</c:v>
                </c:pt>
                <c:pt idx="5">
                  <c:v>44027</c:v>
                </c:pt>
                <c:pt idx="6">
                  <c:v>44036</c:v>
                </c:pt>
                <c:pt idx="7">
                  <c:v>44117</c:v>
                </c:pt>
                <c:pt idx="8">
                  <c:v>44101</c:v>
                </c:pt>
                <c:pt idx="9">
                  <c:v>43992</c:v>
                </c:pt>
                <c:pt idx="10">
                  <c:v>44163</c:v>
                </c:pt>
                <c:pt idx="11">
                  <c:v>44195</c:v>
                </c:pt>
                <c:pt idx="12">
                  <c:v>44134</c:v>
                </c:pt>
                <c:pt idx="13">
                  <c:v>44194</c:v>
                </c:pt>
                <c:pt idx="14">
                  <c:v>44120</c:v>
                </c:pt>
                <c:pt idx="15">
                  <c:v>44186</c:v>
                </c:pt>
                <c:pt idx="16">
                  <c:v>43991</c:v>
                </c:pt>
                <c:pt idx="17">
                  <c:v>44085</c:v>
                </c:pt>
                <c:pt idx="18">
                  <c:v>43932</c:v>
                </c:pt>
                <c:pt idx="19">
                  <c:v>43895</c:v>
                </c:pt>
                <c:pt idx="20">
                  <c:v>44130</c:v>
                </c:pt>
                <c:pt idx="21">
                  <c:v>44174</c:v>
                </c:pt>
                <c:pt idx="22">
                  <c:v>44175</c:v>
                </c:pt>
                <c:pt idx="23">
                  <c:v>44123</c:v>
                </c:pt>
                <c:pt idx="24">
                  <c:v>44158</c:v>
                </c:pt>
                <c:pt idx="25">
                  <c:v>44125</c:v>
                </c:pt>
                <c:pt idx="26">
                  <c:v>44155</c:v>
                </c:pt>
                <c:pt idx="27">
                  <c:v>43928</c:v>
                </c:pt>
                <c:pt idx="28">
                  <c:v>44156</c:v>
                </c:pt>
                <c:pt idx="29">
                  <c:v>44135</c:v>
                </c:pt>
                <c:pt idx="30">
                  <c:v>43943</c:v>
                </c:pt>
                <c:pt idx="31">
                  <c:v>44152</c:v>
                </c:pt>
                <c:pt idx="32">
                  <c:v>44135</c:v>
                </c:pt>
                <c:pt idx="33">
                  <c:v>44192</c:v>
                </c:pt>
                <c:pt idx="34">
                  <c:v>43915</c:v>
                </c:pt>
                <c:pt idx="35">
                  <c:v>44124</c:v>
                </c:pt>
                <c:pt idx="36">
                  <c:v>44129</c:v>
                </c:pt>
                <c:pt idx="37">
                  <c:v>44185</c:v>
                </c:pt>
                <c:pt idx="38">
                  <c:v>44173</c:v>
                </c:pt>
                <c:pt idx="39">
                  <c:v>44184</c:v>
                </c:pt>
                <c:pt idx="40">
                  <c:v>43865</c:v>
                </c:pt>
                <c:pt idx="41">
                  <c:v>44069</c:v>
                </c:pt>
                <c:pt idx="42">
                  <c:v>44192</c:v>
                </c:pt>
                <c:pt idx="43">
                  <c:v>44006</c:v>
                </c:pt>
                <c:pt idx="44">
                  <c:v>44183</c:v>
                </c:pt>
                <c:pt idx="45">
                  <c:v>44182</c:v>
                </c:pt>
                <c:pt idx="46">
                  <c:v>43729</c:v>
                </c:pt>
                <c:pt idx="47">
                  <c:v>43953</c:v>
                </c:pt>
                <c:pt idx="48">
                  <c:v>44162</c:v>
                </c:pt>
                <c:pt idx="49">
                  <c:v>44173</c:v>
                </c:pt>
                <c:pt idx="50">
                  <c:v>44147</c:v>
                </c:pt>
                <c:pt idx="51">
                  <c:v>43948</c:v>
                </c:pt>
                <c:pt idx="52">
                  <c:v>44159</c:v>
                </c:pt>
                <c:pt idx="53">
                  <c:v>44110</c:v>
                </c:pt>
                <c:pt idx="54">
                  <c:v>43935</c:v>
                </c:pt>
                <c:pt idx="55">
                  <c:v>44007</c:v>
                </c:pt>
                <c:pt idx="56">
                  <c:v>44017</c:v>
                </c:pt>
                <c:pt idx="57">
                  <c:v>43859</c:v>
                </c:pt>
                <c:pt idx="58">
                  <c:v>44185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F38A-4F3D-BFB0-B23EA963E685}"/>
            </c:ext>
          </c:extLst>
        </c:ser>
        <c:ser>
          <c:idx val="10"/>
          <c:order val="10"/>
          <c:tx>
            <c:strRef>
              <c:f>'ob7'!$K$1</c:f>
              <c:strCache>
                <c:ptCount val="1"/>
                <c:pt idx="0">
                  <c:v>days_as_customer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'ob7'!$K$2:$K$60</c:f>
              <c:numCache>
                <c:formatCode>General</c:formatCode>
                <c:ptCount val="59"/>
                <c:pt idx="0">
                  <c:v>1263</c:v>
                </c:pt>
                <c:pt idx="1">
                  <c:v>1149</c:v>
                </c:pt>
                <c:pt idx="2">
                  <c:v>1393</c:v>
                </c:pt>
                <c:pt idx="3">
                  <c:v>1180</c:v>
                </c:pt>
                <c:pt idx="4">
                  <c:v>1406</c:v>
                </c:pt>
                <c:pt idx="5">
                  <c:v>1240</c:v>
                </c:pt>
                <c:pt idx="6">
                  <c:v>1275</c:v>
                </c:pt>
                <c:pt idx="7">
                  <c:v>1326</c:v>
                </c:pt>
                <c:pt idx="8">
                  <c:v>1294</c:v>
                </c:pt>
                <c:pt idx="9">
                  <c:v>1181</c:v>
                </c:pt>
                <c:pt idx="10">
                  <c:v>1290</c:v>
                </c:pt>
                <c:pt idx="11">
                  <c:v>1420</c:v>
                </c:pt>
                <c:pt idx="12">
                  <c:v>1321</c:v>
                </c:pt>
                <c:pt idx="13">
                  <c:v>1431</c:v>
                </c:pt>
                <c:pt idx="14">
                  <c:v>1378</c:v>
                </c:pt>
                <c:pt idx="15">
                  <c:v>1405</c:v>
                </c:pt>
                <c:pt idx="16">
                  <c:v>1172</c:v>
                </c:pt>
                <c:pt idx="17">
                  <c:v>1146</c:v>
                </c:pt>
                <c:pt idx="18">
                  <c:v>1155</c:v>
                </c:pt>
                <c:pt idx="19">
                  <c:v>1157</c:v>
                </c:pt>
                <c:pt idx="20">
                  <c:v>1212</c:v>
                </c:pt>
                <c:pt idx="21">
                  <c:v>1360</c:v>
                </c:pt>
                <c:pt idx="22">
                  <c:v>1337</c:v>
                </c:pt>
                <c:pt idx="23">
                  <c:v>1340</c:v>
                </c:pt>
                <c:pt idx="24">
                  <c:v>1375</c:v>
                </c:pt>
                <c:pt idx="25">
                  <c:v>1367</c:v>
                </c:pt>
                <c:pt idx="26">
                  <c:v>1301</c:v>
                </c:pt>
                <c:pt idx="27">
                  <c:v>1110</c:v>
                </c:pt>
                <c:pt idx="28">
                  <c:v>1292</c:v>
                </c:pt>
                <c:pt idx="29">
                  <c:v>1397</c:v>
                </c:pt>
                <c:pt idx="30">
                  <c:v>1188</c:v>
                </c:pt>
                <c:pt idx="31">
                  <c:v>1359</c:v>
                </c:pt>
                <c:pt idx="32">
                  <c:v>1395</c:v>
                </c:pt>
                <c:pt idx="33">
                  <c:v>1342</c:v>
                </c:pt>
                <c:pt idx="34">
                  <c:v>949</c:v>
                </c:pt>
                <c:pt idx="35">
                  <c:v>1136</c:v>
                </c:pt>
                <c:pt idx="36">
                  <c:v>1361</c:v>
                </c:pt>
                <c:pt idx="37">
                  <c:v>1438</c:v>
                </c:pt>
                <c:pt idx="38">
                  <c:v>1413</c:v>
                </c:pt>
                <c:pt idx="39">
                  <c:v>1436</c:v>
                </c:pt>
                <c:pt idx="40">
                  <c:v>1089</c:v>
                </c:pt>
                <c:pt idx="41">
                  <c:v>1068</c:v>
                </c:pt>
                <c:pt idx="42">
                  <c:v>1403</c:v>
                </c:pt>
                <c:pt idx="43">
                  <c:v>973</c:v>
                </c:pt>
                <c:pt idx="44">
                  <c:v>1334</c:v>
                </c:pt>
                <c:pt idx="45">
                  <c:v>1425</c:v>
                </c:pt>
                <c:pt idx="46">
                  <c:v>791</c:v>
                </c:pt>
                <c:pt idx="47">
                  <c:v>1181</c:v>
                </c:pt>
                <c:pt idx="48">
                  <c:v>1120</c:v>
                </c:pt>
                <c:pt idx="49">
                  <c:v>1176</c:v>
                </c:pt>
                <c:pt idx="50">
                  <c:v>1038</c:v>
                </c:pt>
                <c:pt idx="51">
                  <c:v>1047</c:v>
                </c:pt>
                <c:pt idx="52">
                  <c:v>1414</c:v>
                </c:pt>
                <c:pt idx="53">
                  <c:v>1259</c:v>
                </c:pt>
                <c:pt idx="54">
                  <c:v>1123</c:v>
                </c:pt>
                <c:pt idx="55">
                  <c:v>1235</c:v>
                </c:pt>
                <c:pt idx="56">
                  <c:v>808</c:v>
                </c:pt>
                <c:pt idx="57">
                  <c:v>1086</c:v>
                </c:pt>
                <c:pt idx="58">
                  <c:v>1155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F38A-4F3D-BFB0-B23EA963E6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2440928"/>
        <c:axId val="612448608"/>
      </c:lineChart>
      <c:catAx>
        <c:axId val="612440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2448608"/>
        <c:crosses val="autoZero"/>
        <c:auto val="1"/>
        <c:lblAlgn val="ctr"/>
        <c:lblOffset val="100"/>
        <c:noMultiLvlLbl val="0"/>
      </c:catAx>
      <c:valAx>
        <c:axId val="61244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2440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4BDCA-87FA-4FD1-ABFA-F69676585F25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8D6C2B-8E2B-4E0B-B68D-CC0F46662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764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8D6C2B-8E2B-4E0B-B68D-CC0F4666242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379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51943" y="-927097"/>
            <a:ext cx="6426203" cy="6426203"/>
            <a:chOff x="0" y="0"/>
            <a:chExt cx="8568271" cy="85682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68309" cy="8568309"/>
            </a:xfrm>
            <a:custGeom>
              <a:avLst/>
              <a:gdLst/>
              <a:ahLst/>
              <a:cxnLst/>
              <a:rect l="l" t="t" r="r" b="b"/>
              <a:pathLst>
                <a:path w="8568309" h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2563A8">
                <a:alpha val="8627"/>
              </a:srgbClr>
            </a:solidFill>
            <a:ln w="25400" cap="sq">
              <a:solidFill>
                <a:srgbClr val="2563A8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5532103" y="6388103"/>
            <a:ext cx="4048763" cy="4048763"/>
            <a:chOff x="0" y="0"/>
            <a:chExt cx="5398351" cy="53983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98389" cy="5398389"/>
            </a:xfrm>
            <a:custGeom>
              <a:avLst/>
              <a:gdLst/>
              <a:ahLst/>
              <a:cxnLst/>
              <a:rect l="l" t="t" r="r" b="b"/>
              <a:pathLst>
                <a:path w="5398389" h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cubicBezTo>
                    <a:pt x="4189857" y="0"/>
                    <a:pt x="5398389" y="1208405"/>
                    <a:pt x="5398389" y="2699131"/>
                  </a:cubicBezTo>
                  <a:cubicBezTo>
                    <a:pt x="5398389" y="4189857"/>
                    <a:pt x="4189857" y="5398389"/>
                    <a:pt x="2699131" y="5398389"/>
                  </a:cubicBezTo>
                  <a:cubicBezTo>
                    <a:pt x="1208405" y="5398389"/>
                    <a:pt x="0" y="4189857"/>
                    <a:pt x="0" y="2699131"/>
                  </a:cubicBezTo>
                  <a:close/>
                </a:path>
              </a:pathLst>
            </a:custGeom>
            <a:solidFill>
              <a:srgbClr val="F59E0B">
                <a:alpha val="3922"/>
              </a:srgbClr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097280" y="2011680"/>
            <a:ext cx="14630400" cy="1463040"/>
            <a:chOff x="0" y="0"/>
            <a:chExt cx="19507200" cy="19507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07200" cy="1950720"/>
            </a:xfrm>
            <a:custGeom>
              <a:avLst/>
              <a:gdLst/>
              <a:ahLst/>
              <a:cxnLst/>
              <a:rect l="l" t="t" r="r" b="b"/>
              <a:pathLst>
                <a:path w="19507200" h="1950720">
                  <a:moveTo>
                    <a:pt x="0" y="0"/>
                  </a:moveTo>
                  <a:lnTo>
                    <a:pt x="19507200" y="0"/>
                  </a:lnTo>
                  <a:lnTo>
                    <a:pt x="195072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9507200" cy="19602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120"/>
                </a:lnSpc>
              </a:pPr>
              <a:r>
                <a:rPr lang="en-US" sz="76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Chinook Music Store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97280" y="3566160"/>
            <a:ext cx="14630400" cy="914400"/>
            <a:chOff x="0" y="0"/>
            <a:chExt cx="19507200" cy="1219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507200" cy="1219200"/>
            </a:xfrm>
            <a:custGeom>
              <a:avLst/>
              <a:gdLst/>
              <a:ahLst/>
              <a:cxnLst/>
              <a:rect l="l" t="t" r="r" b="b"/>
              <a:pathLst>
                <a:path w="19507200" h="1219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950720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 Data Analysis &amp; Business Insights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78230" y="4644390"/>
            <a:ext cx="6438900" cy="38100"/>
            <a:chOff x="0" y="0"/>
            <a:chExt cx="8585200" cy="50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585200" cy="50800"/>
            </a:xfrm>
            <a:custGeom>
              <a:avLst/>
              <a:gdLst/>
              <a:ahLst/>
              <a:cxnLst/>
              <a:rect l="l" t="t" r="r" b="b"/>
              <a:pathLst>
                <a:path w="8585200" h="50800">
                  <a:moveTo>
                    <a:pt x="0" y="0"/>
                  </a:moveTo>
                  <a:lnTo>
                    <a:pt x="85852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3242971" b="-3242971"/>
              </a:stretch>
            </a:blipFill>
            <a:ln w="38100" cap="sq">
              <a:solidFill>
                <a:srgbClr val="3B82C4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7280" y="5029200"/>
            <a:ext cx="12801600" cy="640080"/>
            <a:chOff x="0" y="0"/>
            <a:chExt cx="17068800" cy="8534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068800" cy="853440"/>
            </a:xfrm>
            <a:custGeom>
              <a:avLst/>
              <a:gdLst/>
              <a:ahLst/>
              <a:cxnLst/>
              <a:rect l="l" t="t" r="r" b="b"/>
              <a:pathLst>
                <a:path w="17068800" h="853440">
                  <a:moveTo>
                    <a:pt x="0" y="0"/>
                  </a:moveTo>
                  <a:lnTo>
                    <a:pt x="17068800" y="0"/>
                  </a:lnTo>
                  <a:lnTo>
                    <a:pt x="17068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70688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Submitted by: </a:t>
              </a:r>
              <a:r>
                <a:rPr lang="en-US" sz="2799" b="1" dirty="0">
                  <a:solidFill>
                    <a:srgbClr val="E2E8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Purushotam Kumar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97280" y="5760720"/>
            <a:ext cx="14630400" cy="441833"/>
            <a:chOff x="0" y="0"/>
            <a:chExt cx="19507200" cy="58911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507200" cy="589111"/>
            </a:xfrm>
            <a:custGeom>
              <a:avLst/>
              <a:gdLst/>
              <a:ahLst/>
              <a:cxnLst/>
              <a:rect l="l" t="t" r="r" b="b"/>
              <a:pathLst>
                <a:path w="19507200" h="589111">
                  <a:moveTo>
                    <a:pt x="0" y="0"/>
                  </a:moveTo>
                  <a:lnTo>
                    <a:pt x="19507200" y="0"/>
                  </a:lnTo>
                  <a:lnTo>
                    <a:pt x="19507200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83119" b="-60729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9507200" cy="636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August,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A7210E6-6339-41CD-F092-E02A3E35D2F3}"/>
              </a:ext>
            </a:extLst>
          </p:cNvPr>
          <p:cNvGrpSpPr/>
          <p:nvPr/>
        </p:nvGrpSpPr>
        <p:grpSpPr>
          <a:xfrm>
            <a:off x="0" y="-12697"/>
            <a:ext cx="18288000" cy="2037083"/>
            <a:chOff x="0" y="0"/>
            <a:chExt cx="24417871" cy="271611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ED437A7-6D32-EEB3-6AD3-6F8519E241C7}"/>
                </a:ext>
              </a:extLst>
            </p:cNvPr>
            <p:cNvSpPr/>
            <p:nvPr/>
          </p:nvSpPr>
          <p:spPr>
            <a:xfrm>
              <a:off x="0" y="0"/>
              <a:ext cx="24417910" cy="2716149"/>
            </a:xfrm>
            <a:custGeom>
              <a:avLst/>
              <a:gdLst/>
              <a:ahLst/>
              <a:cxnLst/>
              <a:rect l="l" t="t" r="r" b="b"/>
              <a:pathLst>
                <a:path w="24417910" h="2716149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IN" dirty="0"/>
            </a:p>
          </p:txBody>
        </p:sp>
      </p:grpSp>
      <p:sp>
        <p:nvSpPr>
          <p:cNvPr id="4" name="Freeform 5">
            <a:extLst>
              <a:ext uri="{FF2B5EF4-FFF2-40B4-BE49-F238E27FC236}">
                <a16:creationId xmlns:a16="http://schemas.microsoft.com/office/drawing/2014/main" id="{3BB00C27-FF9A-3F6E-E549-7F87F4A1D7E6}"/>
              </a:ext>
            </a:extLst>
          </p:cNvPr>
          <p:cNvSpPr/>
          <p:nvPr/>
        </p:nvSpPr>
        <p:spPr>
          <a:xfrm>
            <a:off x="914400" y="419100"/>
            <a:ext cx="16459200" cy="1097280"/>
          </a:xfrm>
          <a:custGeom>
            <a:avLst/>
            <a:gdLst/>
            <a:ahLst/>
            <a:cxnLst/>
            <a:rect l="l" t="t" r="r" b="b"/>
            <a:pathLst>
              <a:path w="21945600" h="1463040">
                <a:moveTo>
                  <a:pt x="0" y="0"/>
                </a:moveTo>
                <a:lnTo>
                  <a:pt x="21945600" y="0"/>
                </a:lnTo>
                <a:lnTo>
                  <a:pt x="21945600" y="1463040"/>
                </a:lnTo>
                <a:lnTo>
                  <a:pt x="0" y="1463040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242275" b="-242275"/>
            </a:stretch>
          </a:blipFill>
        </p:spPr>
        <p:txBody>
          <a:bodyPr/>
          <a:lstStyle/>
          <a:p>
            <a:r>
              <a:rPr lang="en-US" sz="4800" b="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Problem Statement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3CF5178C-A7B1-82F3-BBCA-604C28D89C7F}"/>
              </a:ext>
            </a:extLst>
          </p:cNvPr>
          <p:cNvGrpSpPr/>
          <p:nvPr/>
        </p:nvGrpSpPr>
        <p:grpSpPr>
          <a:xfrm>
            <a:off x="914400" y="4381500"/>
            <a:ext cx="16459199" cy="2915890"/>
            <a:chOff x="8472" y="113498"/>
            <a:chExt cx="21945597" cy="9882251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820CE02A-23E4-A199-1CC2-8485355E17DB}"/>
                </a:ext>
              </a:extLst>
            </p:cNvPr>
            <p:cNvSpPr/>
            <p:nvPr/>
          </p:nvSpPr>
          <p:spPr>
            <a:xfrm>
              <a:off x="8472" y="113498"/>
              <a:ext cx="21945597" cy="9882251"/>
            </a:xfrm>
            <a:custGeom>
              <a:avLst/>
              <a:gdLst/>
              <a:ahLst/>
              <a:cxnLst/>
              <a:rect l="l" t="t" r="r" b="b"/>
              <a:pathLst>
                <a:path w="10989818" h="2699258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10793476" y="0"/>
                  </a:lnTo>
                  <a:cubicBezTo>
                    <a:pt x="10901934" y="0"/>
                    <a:pt x="10989818" y="87884"/>
                    <a:pt x="10989818" y="196342"/>
                  </a:cubicBezTo>
                  <a:lnTo>
                    <a:pt x="10989818" y="2502916"/>
                  </a:lnTo>
                  <a:cubicBezTo>
                    <a:pt x="10989818" y="2611374"/>
                    <a:pt x="10901934" y="2699258"/>
                    <a:pt x="10793476" y="2699258"/>
                  </a:cubicBezTo>
                  <a:lnTo>
                    <a:pt x="196342" y="2699258"/>
                  </a:lnTo>
                  <a:cubicBezTo>
                    <a:pt x="87884" y="2699131"/>
                    <a:pt x="0" y="2611247"/>
                    <a:pt x="0" y="2502916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r>
                <a:rPr lang="en-US" sz="4400" b="1" i="0" u="none" strike="noStrike" dirty="0">
                  <a:solidFill>
                    <a:srgbClr val="002060"/>
                  </a:solidFill>
                  <a:effectLst/>
                  <a:latin typeface="Arial" panose="020B0604020202020204" pitchFamily="34" charset="0"/>
                </a:rPr>
                <a:t>You are hired as a data analyst at Chinook, and your objective is to analyze music record sales data to gain insights and make recommendations for the company's strategy in the physical music market.</a:t>
              </a:r>
              <a:endParaRPr lang="en-US" sz="4400" b="1" dirty="0">
                <a:solidFill>
                  <a:srgbClr val="002060"/>
                </a:solidFill>
                <a:effectLst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9593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8ED1634-A270-ADD5-7945-E1FF2A87725B}"/>
              </a:ext>
            </a:extLst>
          </p:cNvPr>
          <p:cNvGrpSpPr/>
          <p:nvPr/>
        </p:nvGrpSpPr>
        <p:grpSpPr>
          <a:xfrm>
            <a:off x="0" y="-12697"/>
            <a:ext cx="18288000" cy="2037083"/>
            <a:chOff x="0" y="0"/>
            <a:chExt cx="24417871" cy="2716111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812B160-E341-58B0-F72A-D6F9D3DE5EF7}"/>
                </a:ext>
              </a:extLst>
            </p:cNvPr>
            <p:cNvSpPr/>
            <p:nvPr/>
          </p:nvSpPr>
          <p:spPr>
            <a:xfrm>
              <a:off x="0" y="0"/>
              <a:ext cx="24417910" cy="2716149"/>
            </a:xfrm>
            <a:custGeom>
              <a:avLst/>
              <a:gdLst/>
              <a:ahLst/>
              <a:cxnLst/>
              <a:rect l="l" t="t" r="r" b="b"/>
              <a:pathLst>
                <a:path w="24417910" h="2716149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IN" dirty="0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C2F30EF3-3802-9664-1257-74C750D3DC45}"/>
              </a:ext>
            </a:extLst>
          </p:cNvPr>
          <p:cNvSpPr/>
          <p:nvPr/>
        </p:nvSpPr>
        <p:spPr>
          <a:xfrm>
            <a:off x="914400" y="419100"/>
            <a:ext cx="16459200" cy="1097280"/>
          </a:xfrm>
          <a:custGeom>
            <a:avLst/>
            <a:gdLst/>
            <a:ahLst/>
            <a:cxnLst/>
            <a:rect l="l" t="t" r="r" b="b"/>
            <a:pathLst>
              <a:path w="21945600" h="1463040">
                <a:moveTo>
                  <a:pt x="0" y="0"/>
                </a:moveTo>
                <a:lnTo>
                  <a:pt x="21945600" y="0"/>
                </a:lnTo>
                <a:lnTo>
                  <a:pt x="21945600" y="1463040"/>
                </a:lnTo>
                <a:lnTo>
                  <a:pt x="0" y="1463040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242275" b="-242275"/>
            </a:stretch>
          </a:blipFill>
        </p:spPr>
        <p:txBody>
          <a:bodyPr/>
          <a:lstStyle/>
          <a:p>
            <a:r>
              <a:rPr lang="en-US" sz="4800" b="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Database Schema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23D20B-1152-A503-D432-2E6700B2D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542" y="2549175"/>
            <a:ext cx="10874916" cy="77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4152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78D711-1819-3D88-3AB4-F3B749E23B1D}"/>
              </a:ext>
            </a:extLst>
          </p:cNvPr>
          <p:cNvGrpSpPr/>
          <p:nvPr/>
        </p:nvGrpSpPr>
        <p:grpSpPr>
          <a:xfrm>
            <a:off x="0" y="-12697"/>
            <a:ext cx="18288000" cy="2037083"/>
            <a:chOff x="0" y="0"/>
            <a:chExt cx="24417871" cy="271611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A807919-F314-E811-BA07-3E274E226311}"/>
                </a:ext>
              </a:extLst>
            </p:cNvPr>
            <p:cNvSpPr/>
            <p:nvPr/>
          </p:nvSpPr>
          <p:spPr>
            <a:xfrm>
              <a:off x="0" y="0"/>
              <a:ext cx="24417910" cy="2716149"/>
            </a:xfrm>
            <a:custGeom>
              <a:avLst/>
              <a:gdLst/>
              <a:ahLst/>
              <a:cxnLst/>
              <a:rect l="l" t="t" r="r" b="b"/>
              <a:pathLst>
                <a:path w="24417910" h="2716149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IN" dirty="0"/>
            </a:p>
          </p:txBody>
        </p:sp>
      </p:grpSp>
      <p:sp>
        <p:nvSpPr>
          <p:cNvPr id="4" name="Freeform 5">
            <a:extLst>
              <a:ext uri="{FF2B5EF4-FFF2-40B4-BE49-F238E27FC236}">
                <a16:creationId xmlns:a16="http://schemas.microsoft.com/office/drawing/2014/main" id="{6062FA23-A3F5-53D1-F40C-D084A8E915F2}"/>
              </a:ext>
            </a:extLst>
          </p:cNvPr>
          <p:cNvSpPr/>
          <p:nvPr/>
        </p:nvSpPr>
        <p:spPr>
          <a:xfrm>
            <a:off x="914400" y="419100"/>
            <a:ext cx="16459200" cy="1097280"/>
          </a:xfrm>
          <a:custGeom>
            <a:avLst/>
            <a:gdLst/>
            <a:ahLst/>
            <a:cxnLst/>
            <a:rect l="l" t="t" r="r" b="b"/>
            <a:pathLst>
              <a:path w="21945600" h="1463040">
                <a:moveTo>
                  <a:pt x="0" y="0"/>
                </a:moveTo>
                <a:lnTo>
                  <a:pt x="21945600" y="0"/>
                </a:lnTo>
                <a:lnTo>
                  <a:pt x="21945600" y="1463040"/>
                </a:lnTo>
                <a:lnTo>
                  <a:pt x="0" y="1463040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242275" b="-242275"/>
            </a:stretch>
          </a:blipFill>
        </p:spPr>
        <p:txBody>
          <a:bodyPr/>
          <a:lstStyle/>
          <a:p>
            <a:r>
              <a:rPr lang="en-GB" sz="5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description</a:t>
            </a:r>
            <a:endParaRPr lang="en-US" sz="5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 Bold"/>
              <a:sym typeface="Cambria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5AFE0-E1F1-B230-27E8-917D454AC666}"/>
              </a:ext>
            </a:extLst>
          </p:cNvPr>
          <p:cNvSpPr txBox="1"/>
          <p:nvPr/>
        </p:nvSpPr>
        <p:spPr>
          <a:xfrm>
            <a:off x="762000" y="2705100"/>
            <a:ext cx="8382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customer:</a:t>
            </a: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customer_id</a:t>
            </a: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Unique identifier assigned to each customer.</a:t>
            </a: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first_name</a:t>
            </a: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given name or first name of a customer.</a:t>
            </a: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last_name</a:t>
            </a: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surname or family name of a customer.</a:t>
            </a: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company: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name of the company associated with a customer.</a:t>
            </a: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address: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street address of a customer's location.</a:t>
            </a: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city: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city where a customer is located.</a:t>
            </a: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state: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state or province where a customer is located.</a:t>
            </a: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country: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country where a customer is located.</a:t>
            </a: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postal_code</a:t>
            </a: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postal or zip code of a customer's address.</a:t>
            </a: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phone: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phone number of a customer.</a:t>
            </a: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fax: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fax number associated with a customer.</a:t>
            </a: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email: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email address of a customer.</a:t>
            </a:r>
          </a:p>
          <a:p>
            <a:pPr marL="457200" lvl="0" indent="-29405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support_rep_id</a:t>
            </a: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The employee ID of the support representative assigned to a customer.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BB7B1F-1798-6FD9-D72E-0F5669BF54D2}"/>
              </a:ext>
            </a:extLst>
          </p:cNvPr>
          <p:cNvSpPr txBox="1"/>
          <p:nvPr/>
        </p:nvSpPr>
        <p:spPr>
          <a:xfrm>
            <a:off x="10210800" y="2933700"/>
            <a:ext cx="76962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invoice: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invoice_id</a:t>
            </a: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Unique identifier assigned to each invoice.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customer_id</a:t>
            </a: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customer ID associated with the invoice.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invoice_date</a:t>
            </a: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date when the invoice was generated or issued.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billing_address</a:t>
            </a: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street address used for billing purposes.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billing_city</a:t>
            </a: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city used for billing purposes.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billing_state</a:t>
            </a: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state or province used for billing purposes.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billing_country</a:t>
            </a: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country used for billing purposes.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billing_postal_code</a:t>
            </a: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postal or zip code used for billing purposes.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total: 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total amount due on the invoice.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564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ABEBB19-9A05-61F4-DE2E-D623FB7C9C9E}"/>
              </a:ext>
            </a:extLst>
          </p:cNvPr>
          <p:cNvGrpSpPr/>
          <p:nvPr/>
        </p:nvGrpSpPr>
        <p:grpSpPr>
          <a:xfrm>
            <a:off x="0" y="-12697"/>
            <a:ext cx="18288000" cy="2037083"/>
            <a:chOff x="0" y="0"/>
            <a:chExt cx="24417871" cy="271611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B6CF991-7F09-14EC-90B3-445F7866E4B0}"/>
                </a:ext>
              </a:extLst>
            </p:cNvPr>
            <p:cNvSpPr/>
            <p:nvPr/>
          </p:nvSpPr>
          <p:spPr>
            <a:xfrm>
              <a:off x="0" y="0"/>
              <a:ext cx="24417910" cy="2716149"/>
            </a:xfrm>
            <a:custGeom>
              <a:avLst/>
              <a:gdLst/>
              <a:ahLst/>
              <a:cxnLst/>
              <a:rect l="l" t="t" r="r" b="b"/>
              <a:pathLst>
                <a:path w="24417910" h="2716149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IN" dirty="0"/>
            </a:p>
          </p:txBody>
        </p:sp>
      </p:grpSp>
      <p:sp>
        <p:nvSpPr>
          <p:cNvPr id="4" name="Freeform 5">
            <a:extLst>
              <a:ext uri="{FF2B5EF4-FFF2-40B4-BE49-F238E27FC236}">
                <a16:creationId xmlns:a16="http://schemas.microsoft.com/office/drawing/2014/main" id="{440E7118-3B64-0956-5390-5CF21BC7121B}"/>
              </a:ext>
            </a:extLst>
          </p:cNvPr>
          <p:cNvSpPr/>
          <p:nvPr/>
        </p:nvSpPr>
        <p:spPr>
          <a:xfrm>
            <a:off x="914400" y="419100"/>
            <a:ext cx="16459200" cy="1097280"/>
          </a:xfrm>
          <a:custGeom>
            <a:avLst/>
            <a:gdLst/>
            <a:ahLst/>
            <a:cxnLst/>
            <a:rect l="l" t="t" r="r" b="b"/>
            <a:pathLst>
              <a:path w="21945600" h="1463040">
                <a:moveTo>
                  <a:pt x="0" y="0"/>
                </a:moveTo>
                <a:lnTo>
                  <a:pt x="21945600" y="0"/>
                </a:lnTo>
                <a:lnTo>
                  <a:pt x="21945600" y="1463040"/>
                </a:lnTo>
                <a:lnTo>
                  <a:pt x="0" y="1463040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242275" b="-242275"/>
            </a:stretch>
          </a:blipFill>
        </p:spPr>
        <p:txBody>
          <a:bodyPr/>
          <a:lstStyle/>
          <a:p>
            <a:r>
              <a:rPr lang="en-GB" sz="5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description</a:t>
            </a:r>
            <a:endParaRPr lang="en-US" sz="5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 Bold"/>
              <a:sym typeface="Cambria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47E45D-13E6-387E-6129-359C9889C323}"/>
              </a:ext>
            </a:extLst>
          </p:cNvPr>
          <p:cNvSpPr txBox="1"/>
          <p:nvPr/>
        </p:nvSpPr>
        <p:spPr>
          <a:xfrm>
            <a:off x="914399" y="2857500"/>
            <a:ext cx="68580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9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invoice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19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invoice_id</a:t>
            </a:r>
            <a:r>
              <a:rPr lang="en-US" sz="19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Unique identifier assigned to each invoice.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customer_id</a:t>
            </a:r>
            <a:r>
              <a:rPr lang="en-US" sz="19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customer ID associated with the invoice.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invoice_date</a:t>
            </a:r>
            <a:r>
              <a:rPr lang="en-US" sz="19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date when the invoice was generated or issued.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billing_address</a:t>
            </a:r>
            <a:r>
              <a:rPr lang="en-US" sz="19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street address used for billing purposes.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billing_city</a:t>
            </a:r>
            <a:r>
              <a:rPr lang="en-US" sz="19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city used for billing purposes.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billing_state</a:t>
            </a:r>
            <a:r>
              <a:rPr lang="en-US" sz="19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state or province used for billing purposes.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billing_country</a:t>
            </a:r>
            <a:r>
              <a:rPr lang="en-US" sz="19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country used for billing purposes.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billing_postal_code</a:t>
            </a:r>
            <a:r>
              <a:rPr lang="en-US" sz="19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postal or zip code used for billing purposes.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total: 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total amount due on the invoice.</a:t>
            </a:r>
            <a:b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1900" b="0" i="0" u="none" strike="noStrike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9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invoice_line</a:t>
            </a:r>
            <a:r>
              <a:rPr lang="en-US" sz="19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19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invoice_line_id</a:t>
            </a:r>
            <a:r>
              <a:rPr lang="en-US" sz="19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Unique identifier assigned to each line item on an invoice.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invoice_id</a:t>
            </a:r>
            <a:r>
              <a:rPr lang="en-US" sz="19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invoice ID to which the line item belongs.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track_id</a:t>
            </a:r>
            <a:r>
              <a:rPr lang="en-US" sz="19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ID of the track or product included in the line item.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unit_price</a:t>
            </a:r>
            <a:r>
              <a:rPr lang="en-US" sz="19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price per unit for the line item.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quantity: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The quantity of units for the line item.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D2D98-868D-913F-172E-BF285561EE26}"/>
              </a:ext>
            </a:extLst>
          </p:cNvPr>
          <p:cNvSpPr txBox="1"/>
          <p:nvPr/>
        </p:nvSpPr>
        <p:spPr>
          <a:xfrm>
            <a:off x="10515602" y="2857500"/>
            <a:ext cx="6858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playlist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playlist_id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Unique identifier assigned to each playlist.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name: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The name or title of the playlist.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playlist_track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playlist_id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ID of the playlist to which the track belongs.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track_id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ID of the track included in the playlist.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track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track_id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Unique identifier assigned to each track or song.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name: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title or name of the track.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album_id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ID of the album to which the track belongs.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media_type_id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ID of the media type associated with the track.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genre_id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ID of the genre associated with the track.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composer: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The name of the composer or artist who composed the track.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milliseconds: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The duration of the track in milliseconds.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bytes: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file size of the track in bytes.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unit_price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price per unit for the track.</a:t>
            </a:r>
          </a:p>
        </p:txBody>
      </p:sp>
    </p:spTree>
    <p:extLst>
      <p:ext uri="{BB962C8B-B14F-4D97-AF65-F5344CB8AC3E}">
        <p14:creationId xmlns:p14="http://schemas.microsoft.com/office/powerpoint/2010/main" val="294064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8F3940-E94B-3D18-46F1-DD77320A9564}"/>
              </a:ext>
            </a:extLst>
          </p:cNvPr>
          <p:cNvGrpSpPr/>
          <p:nvPr/>
        </p:nvGrpSpPr>
        <p:grpSpPr>
          <a:xfrm>
            <a:off x="0" y="-12697"/>
            <a:ext cx="18288000" cy="2037083"/>
            <a:chOff x="0" y="0"/>
            <a:chExt cx="24417871" cy="271611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6EAE7E3-7CA8-497F-957B-D3F91B9F1444}"/>
                </a:ext>
              </a:extLst>
            </p:cNvPr>
            <p:cNvSpPr/>
            <p:nvPr/>
          </p:nvSpPr>
          <p:spPr>
            <a:xfrm>
              <a:off x="0" y="0"/>
              <a:ext cx="24417910" cy="2716149"/>
            </a:xfrm>
            <a:custGeom>
              <a:avLst/>
              <a:gdLst/>
              <a:ahLst/>
              <a:cxnLst/>
              <a:rect l="l" t="t" r="r" b="b"/>
              <a:pathLst>
                <a:path w="24417910" h="2716149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IN" dirty="0"/>
            </a:p>
          </p:txBody>
        </p:sp>
      </p:grpSp>
      <p:sp>
        <p:nvSpPr>
          <p:cNvPr id="4" name="Freeform 5">
            <a:extLst>
              <a:ext uri="{FF2B5EF4-FFF2-40B4-BE49-F238E27FC236}">
                <a16:creationId xmlns:a16="http://schemas.microsoft.com/office/drawing/2014/main" id="{E9E5A9A0-BDC2-4FCF-CE74-5ECAAC29D7FE}"/>
              </a:ext>
            </a:extLst>
          </p:cNvPr>
          <p:cNvSpPr/>
          <p:nvPr/>
        </p:nvSpPr>
        <p:spPr>
          <a:xfrm>
            <a:off x="914400" y="419100"/>
            <a:ext cx="16459200" cy="1097280"/>
          </a:xfrm>
          <a:custGeom>
            <a:avLst/>
            <a:gdLst/>
            <a:ahLst/>
            <a:cxnLst/>
            <a:rect l="l" t="t" r="r" b="b"/>
            <a:pathLst>
              <a:path w="21945600" h="1463040">
                <a:moveTo>
                  <a:pt x="0" y="0"/>
                </a:moveTo>
                <a:lnTo>
                  <a:pt x="21945600" y="0"/>
                </a:lnTo>
                <a:lnTo>
                  <a:pt x="21945600" y="1463040"/>
                </a:lnTo>
                <a:lnTo>
                  <a:pt x="0" y="1463040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242275" b="-242275"/>
            </a:stretch>
          </a:blipFill>
        </p:spPr>
        <p:txBody>
          <a:bodyPr/>
          <a:lstStyle/>
          <a:p>
            <a:r>
              <a:rPr lang="en-GB" sz="5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description</a:t>
            </a:r>
            <a:endParaRPr lang="en-US" sz="5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 Bold"/>
              <a:sym typeface="Cambria Bold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D5293-EFBE-2D3C-051E-E7C57AF6E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9086" y="2456211"/>
            <a:ext cx="8267700" cy="7411689"/>
          </a:xfrm>
        </p:spPr>
        <p:txBody>
          <a:bodyPr>
            <a:normAutofit/>
          </a:bodyPr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album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36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Bef>
                <a:spcPts val="0"/>
              </a:spcBef>
            </a:pPr>
            <a:r>
              <a:rPr lang="en-US" sz="24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album_id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Unique identifier assigned to each album.</a:t>
            </a:r>
          </a:p>
          <a:p>
            <a:pPr fontAlgn="base">
              <a:spcBef>
                <a:spcPts val="0"/>
              </a:spcBef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title: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title or name of the album.</a:t>
            </a:r>
          </a:p>
          <a:p>
            <a:pPr fontAlgn="base">
              <a:spcBef>
                <a:spcPts val="0"/>
              </a:spcBef>
            </a:pPr>
            <a:r>
              <a:rPr lang="en-US" sz="24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artist_id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ID of the artist associated with the album.</a:t>
            </a:r>
          </a:p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artist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36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Bef>
                <a:spcPts val="0"/>
              </a:spcBef>
            </a:pPr>
            <a:r>
              <a:rPr lang="en-US" sz="24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artist_id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Unique identifier assigned to each artist.</a:t>
            </a:r>
          </a:p>
          <a:p>
            <a:pPr fontAlgn="base">
              <a:spcBef>
                <a:spcPts val="0"/>
              </a:spcBef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name: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name of the artist.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4708E2-2979-DDBD-53F4-5BF5E22AF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92987" y="2456211"/>
            <a:ext cx="8267700" cy="7411689"/>
          </a:xfrm>
        </p:spPr>
        <p:txBody>
          <a:bodyPr>
            <a:normAutofit/>
          </a:bodyPr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media_type</a:t>
            </a: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IN" sz="36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Bef>
                <a:spcPts val="0"/>
              </a:spcBef>
            </a:pPr>
            <a:r>
              <a:rPr lang="en-IN" sz="24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media_type_id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Unique identifier assigned to each media type.</a:t>
            </a:r>
          </a:p>
          <a:p>
            <a:pPr fontAlgn="base">
              <a:spcBef>
                <a:spcPts val="0"/>
              </a:spcBef>
            </a:pP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name: </a:t>
            </a: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name or description of the media type (e.g., MPEG audio file, AAC audio file).</a:t>
            </a:r>
          </a:p>
          <a:p>
            <a:pPr marL="0" indent="0" rtl="0" fontAlgn="base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genre</a:t>
            </a: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IN" sz="36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spcBef>
                <a:spcPts val="0"/>
              </a:spcBef>
            </a:pPr>
            <a:r>
              <a:rPr lang="en-IN" sz="24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genre_id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Unique identifier assigned to each genre.</a:t>
            </a:r>
          </a:p>
          <a:p>
            <a:pPr fontAlgn="base">
              <a:spcBef>
                <a:spcPts val="0"/>
              </a:spcBef>
            </a:pP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name: </a:t>
            </a: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name or description of the genre (e.g., rock, pop, classical).</a:t>
            </a:r>
          </a:p>
        </p:txBody>
      </p:sp>
    </p:spTree>
    <p:extLst>
      <p:ext uri="{BB962C8B-B14F-4D97-AF65-F5344CB8AC3E}">
        <p14:creationId xmlns:p14="http://schemas.microsoft.com/office/powerpoint/2010/main" val="3719523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716149"/>
            </a:xfrm>
            <a:custGeom>
              <a:avLst/>
              <a:gdLst/>
              <a:ahLst/>
              <a:cxnLst/>
              <a:rect l="l" t="t" r="r" b="b"/>
              <a:pathLst>
                <a:path w="24417910" h="2716149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14400" y="512064"/>
            <a:ext cx="16459200" cy="1097280"/>
            <a:chOff x="0" y="0"/>
            <a:chExt cx="21945600" cy="1463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 dirty="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About the Dataset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08047" y="2279647"/>
            <a:ext cx="3853177" cy="2755897"/>
            <a:chOff x="0" y="0"/>
            <a:chExt cx="5137569" cy="36745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37531" cy="3674491"/>
            </a:xfrm>
            <a:custGeom>
              <a:avLst/>
              <a:gdLst/>
              <a:ahLst/>
              <a:cxnLst/>
              <a:rect l="l" t="t" r="r" b="b"/>
              <a:pathLst>
                <a:path w="5137531" h="367449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914400" y="2615184"/>
            <a:ext cx="3840480" cy="1280160"/>
            <a:chOff x="0" y="0"/>
            <a:chExt cx="5120640" cy="170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20640" cy="1706880"/>
            </a:xfrm>
            <a:custGeom>
              <a:avLst/>
              <a:gdLst/>
              <a:ahLst/>
              <a:cxnLst/>
              <a:rect l="l" t="t" r="r" b="b"/>
              <a:pathLst>
                <a:path w="5120640" h="170688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 dirty="0">
                  <a:solidFill>
                    <a:srgbClr val="2563A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" y="3931920"/>
            <a:ext cx="3840480" cy="822960"/>
            <a:chOff x="0" y="0"/>
            <a:chExt cx="5120640" cy="10972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120640" cy="1097280"/>
            </a:xfrm>
            <a:custGeom>
              <a:avLst/>
              <a:gdLst/>
              <a:ahLst/>
              <a:cxnLst/>
              <a:rect l="l" t="t" r="r" b="b"/>
              <a:pathLst>
                <a:path w="5120640" h="109728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Tables in Database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022847" y="2279647"/>
            <a:ext cx="3853177" cy="2755897"/>
            <a:chOff x="0" y="0"/>
            <a:chExt cx="5137569" cy="36745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137531" cy="3674491"/>
            </a:xfrm>
            <a:custGeom>
              <a:avLst/>
              <a:gdLst/>
              <a:ahLst/>
              <a:cxnLst/>
              <a:rect l="l" t="t" r="r" b="b"/>
              <a:pathLst>
                <a:path w="5137531" h="367449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029200" y="2615184"/>
            <a:ext cx="3840480" cy="1280160"/>
            <a:chOff x="0" y="0"/>
            <a:chExt cx="5120640" cy="17068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120640" cy="1706880"/>
            </a:xfrm>
            <a:custGeom>
              <a:avLst/>
              <a:gdLst/>
              <a:ahLst/>
              <a:cxnLst/>
              <a:rect l="l" t="t" r="r" b="b"/>
              <a:pathLst>
                <a:path w="5120640" h="170688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>
                  <a:solidFill>
                    <a:srgbClr val="0D948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59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029200" y="3931920"/>
            <a:ext cx="3840480" cy="822960"/>
            <a:chOff x="0" y="0"/>
            <a:chExt cx="5120640" cy="10972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120640" cy="1097280"/>
            </a:xfrm>
            <a:custGeom>
              <a:avLst/>
              <a:gdLst/>
              <a:ahLst/>
              <a:cxnLst/>
              <a:rect l="l" t="t" r="r" b="b"/>
              <a:pathLst>
                <a:path w="5120640" h="109728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Customers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137647" y="2279647"/>
            <a:ext cx="3853177" cy="2755897"/>
            <a:chOff x="0" y="0"/>
            <a:chExt cx="5137569" cy="36745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137531" cy="3674491"/>
            </a:xfrm>
            <a:custGeom>
              <a:avLst/>
              <a:gdLst/>
              <a:ahLst/>
              <a:cxnLst/>
              <a:rect l="l" t="t" r="r" b="b"/>
              <a:pathLst>
                <a:path w="5137531" h="367449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9144000" y="2615184"/>
            <a:ext cx="3840480" cy="1280160"/>
            <a:chOff x="0" y="0"/>
            <a:chExt cx="5120640" cy="170688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120640" cy="1706880"/>
            </a:xfrm>
            <a:custGeom>
              <a:avLst/>
              <a:gdLst/>
              <a:ahLst/>
              <a:cxnLst/>
              <a:rect l="l" t="t" r="r" b="b"/>
              <a:pathLst>
                <a:path w="5120640" h="170688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>
                  <a:solidFill>
                    <a:srgbClr val="2563A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614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0" y="3931920"/>
            <a:ext cx="3840480" cy="822960"/>
            <a:chOff x="0" y="0"/>
            <a:chExt cx="5120640" cy="10972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120640" cy="1097280"/>
            </a:xfrm>
            <a:custGeom>
              <a:avLst/>
              <a:gdLst/>
              <a:ahLst/>
              <a:cxnLst/>
              <a:rect l="l" t="t" r="r" b="b"/>
              <a:pathLst>
                <a:path w="5120640" h="109728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Invoices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252447" y="2279647"/>
            <a:ext cx="3853177" cy="2755897"/>
            <a:chOff x="0" y="0"/>
            <a:chExt cx="5137569" cy="367452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137531" cy="3674491"/>
            </a:xfrm>
            <a:custGeom>
              <a:avLst/>
              <a:gdLst/>
              <a:ahLst/>
              <a:cxnLst/>
              <a:rect l="l" t="t" r="r" b="b"/>
              <a:pathLst>
                <a:path w="5137531" h="367449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3258800" y="2615184"/>
            <a:ext cx="3840480" cy="1280160"/>
            <a:chOff x="0" y="0"/>
            <a:chExt cx="5120640" cy="17068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120640" cy="1706880"/>
            </a:xfrm>
            <a:custGeom>
              <a:avLst/>
              <a:gdLst/>
              <a:ahLst/>
              <a:cxnLst/>
              <a:rect l="l" t="t" r="r" b="b"/>
              <a:pathLst>
                <a:path w="5120640" h="170688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>
                  <a:solidFill>
                    <a:srgbClr val="0D948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3,503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258800" y="3931920"/>
            <a:ext cx="3840480" cy="822960"/>
            <a:chOff x="0" y="0"/>
            <a:chExt cx="5120640" cy="10972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120640" cy="1097280"/>
            </a:xfrm>
            <a:custGeom>
              <a:avLst/>
              <a:gdLst/>
              <a:ahLst/>
              <a:cxnLst/>
              <a:rect l="l" t="t" r="r" b="b"/>
              <a:pathLst>
                <a:path w="5120640" h="109728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Tracks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08047" y="5388607"/>
            <a:ext cx="16471897" cy="4218937"/>
            <a:chOff x="0" y="0"/>
            <a:chExt cx="21962529" cy="562524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1962619" cy="5625338"/>
            </a:xfrm>
            <a:custGeom>
              <a:avLst/>
              <a:gdLst/>
              <a:ahLst/>
              <a:cxnLst/>
              <a:rect l="l" t="t" r="r" b="b"/>
              <a:pathLst>
                <a:path w="21962619" h="5625338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21766912" y="0"/>
                  </a:lnTo>
                  <a:cubicBezTo>
                    <a:pt x="21874989" y="0"/>
                    <a:pt x="21962619" y="87630"/>
                    <a:pt x="21962619" y="195707"/>
                  </a:cubicBezTo>
                  <a:lnTo>
                    <a:pt x="21962619" y="5429631"/>
                  </a:lnTo>
                  <a:cubicBezTo>
                    <a:pt x="21962619" y="5537708"/>
                    <a:pt x="21874989" y="5625338"/>
                    <a:pt x="21766912" y="5625338"/>
                  </a:cubicBezTo>
                  <a:lnTo>
                    <a:pt x="195707" y="5625338"/>
                  </a:lnTo>
                  <a:cubicBezTo>
                    <a:pt x="87630" y="5625211"/>
                    <a:pt x="0" y="5537708"/>
                    <a:pt x="0" y="5429631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463040" y="5577840"/>
            <a:ext cx="15544800" cy="640080"/>
            <a:chOff x="0" y="0"/>
            <a:chExt cx="20726400" cy="8534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0726400" cy="853440"/>
            </a:xfrm>
            <a:custGeom>
              <a:avLst/>
              <a:gdLst/>
              <a:ahLst/>
              <a:cxnLst/>
              <a:rect l="l" t="t" r="r" b="b"/>
              <a:pathLst>
                <a:path w="20726400" h="853440">
                  <a:moveTo>
                    <a:pt x="0" y="0"/>
                  </a:moveTo>
                  <a:lnTo>
                    <a:pt x="20726400" y="0"/>
                  </a:lnTo>
                  <a:lnTo>
                    <a:pt x="20726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23208" b="-423208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57150"/>
              <a:ext cx="2072640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Tables &amp; Relationships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645920" y="6364224"/>
            <a:ext cx="548640" cy="640080"/>
            <a:chOff x="0" y="0"/>
            <a:chExt cx="731520" cy="8534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31520" cy="853440"/>
            </a:xfrm>
            <a:custGeom>
              <a:avLst/>
              <a:gdLst/>
              <a:ahLst/>
              <a:cxnLst/>
              <a:rect l="l" t="t" r="r" b="b"/>
              <a:pathLst>
                <a:path w="731520" h="853440">
                  <a:moveTo>
                    <a:pt x="0" y="0"/>
                  </a:moveTo>
                  <a:lnTo>
                    <a:pt x="731520" y="0"/>
                  </a:lnTo>
                  <a:lnTo>
                    <a:pt x="731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9687" r="-99687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73152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103120" y="6364224"/>
            <a:ext cx="7498080" cy="640080"/>
            <a:chOff x="0" y="0"/>
            <a:chExt cx="9997440" cy="8534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997440" cy="853440"/>
            </a:xfrm>
            <a:custGeom>
              <a:avLst/>
              <a:gdLst/>
              <a:ahLst/>
              <a:cxnLst/>
              <a:rect l="l" t="t" r="r" b="b"/>
              <a:pathLst>
                <a:path w="9997440" h="853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8253" b="-178253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dirty="0">
                  <a:solidFill>
                    <a:srgbClr val="2563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 </a:t>
              </a:r>
              <a:r>
                <a:rPr lang="en-US" sz="2100" dirty="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59 rows — customer location and contact info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645920" y="7370064"/>
            <a:ext cx="548640" cy="640080"/>
            <a:chOff x="0" y="0"/>
            <a:chExt cx="731520" cy="8534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31520" cy="853440"/>
            </a:xfrm>
            <a:custGeom>
              <a:avLst/>
              <a:gdLst/>
              <a:ahLst/>
              <a:cxnLst/>
              <a:rect l="l" t="t" r="r" b="b"/>
              <a:pathLst>
                <a:path w="731520" h="853440">
                  <a:moveTo>
                    <a:pt x="0" y="0"/>
                  </a:moveTo>
                  <a:lnTo>
                    <a:pt x="731520" y="0"/>
                  </a:lnTo>
                  <a:lnTo>
                    <a:pt x="731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9687" r="-99687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73152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103120" y="7370064"/>
            <a:ext cx="7498080" cy="640080"/>
            <a:chOff x="0" y="0"/>
            <a:chExt cx="9997440" cy="8534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997440" cy="853440"/>
            </a:xfrm>
            <a:custGeom>
              <a:avLst/>
              <a:gdLst/>
              <a:ahLst/>
              <a:cxnLst/>
              <a:rect l="l" t="t" r="r" b="b"/>
              <a:pathLst>
                <a:path w="9997440" h="853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8253" b="-178253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563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invoice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614 rows — billing details and invoice totals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645920" y="8375904"/>
            <a:ext cx="548640" cy="640080"/>
            <a:chOff x="0" y="0"/>
            <a:chExt cx="731520" cy="8534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31520" cy="853440"/>
            </a:xfrm>
            <a:custGeom>
              <a:avLst/>
              <a:gdLst/>
              <a:ahLst/>
              <a:cxnLst/>
              <a:rect l="l" t="t" r="r" b="b"/>
              <a:pathLst>
                <a:path w="731520" h="853440">
                  <a:moveTo>
                    <a:pt x="0" y="0"/>
                  </a:moveTo>
                  <a:lnTo>
                    <a:pt x="731520" y="0"/>
                  </a:lnTo>
                  <a:lnTo>
                    <a:pt x="731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9687" r="-99687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73152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103120" y="8375904"/>
            <a:ext cx="7498080" cy="640080"/>
            <a:chOff x="0" y="0"/>
            <a:chExt cx="9997440" cy="85344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997440" cy="853440"/>
            </a:xfrm>
            <a:custGeom>
              <a:avLst/>
              <a:gdLst/>
              <a:ahLst/>
              <a:cxnLst/>
              <a:rect l="l" t="t" r="r" b="b"/>
              <a:pathLst>
                <a:path w="9997440" h="853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8253" b="-178253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563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invoice_line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2240 rows — individual track purchases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326880" y="6364224"/>
            <a:ext cx="548640" cy="640080"/>
            <a:chOff x="0" y="0"/>
            <a:chExt cx="731520" cy="8534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31520" cy="853440"/>
            </a:xfrm>
            <a:custGeom>
              <a:avLst/>
              <a:gdLst/>
              <a:ahLst/>
              <a:cxnLst/>
              <a:rect l="l" t="t" r="r" b="b"/>
              <a:pathLst>
                <a:path w="731520" h="853440">
                  <a:moveTo>
                    <a:pt x="0" y="0"/>
                  </a:moveTo>
                  <a:lnTo>
                    <a:pt x="731520" y="0"/>
                  </a:lnTo>
                  <a:lnTo>
                    <a:pt x="731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9687" r="-99687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73152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784080" y="6364224"/>
            <a:ext cx="7498080" cy="640080"/>
            <a:chOff x="0" y="0"/>
            <a:chExt cx="9997440" cy="85344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997440" cy="853440"/>
            </a:xfrm>
            <a:custGeom>
              <a:avLst/>
              <a:gdLst/>
              <a:ahLst/>
              <a:cxnLst/>
              <a:rect l="l" t="t" r="r" b="b"/>
              <a:pathLst>
                <a:path w="9997440" h="853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8253" b="-178253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563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track / album / artist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3503 tracks across 347 albums and 275 artists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326880" y="7370064"/>
            <a:ext cx="548640" cy="640080"/>
            <a:chOff x="0" y="0"/>
            <a:chExt cx="731520" cy="8534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31520" cy="853440"/>
            </a:xfrm>
            <a:custGeom>
              <a:avLst/>
              <a:gdLst/>
              <a:ahLst/>
              <a:cxnLst/>
              <a:rect l="l" t="t" r="r" b="b"/>
              <a:pathLst>
                <a:path w="731520" h="853440">
                  <a:moveTo>
                    <a:pt x="0" y="0"/>
                  </a:moveTo>
                  <a:lnTo>
                    <a:pt x="731520" y="0"/>
                  </a:lnTo>
                  <a:lnTo>
                    <a:pt x="731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9687" r="-99687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73152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784080" y="7370064"/>
            <a:ext cx="7498080" cy="640080"/>
            <a:chOff x="0" y="0"/>
            <a:chExt cx="9997440" cy="85344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9997440" cy="853440"/>
            </a:xfrm>
            <a:custGeom>
              <a:avLst/>
              <a:gdLst/>
              <a:ahLst/>
              <a:cxnLst/>
              <a:rect l="l" t="t" r="r" b="b"/>
              <a:pathLst>
                <a:path w="9997440" h="853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8253" b="-178253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563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genre / media_type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25 genres and 5 media types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716149"/>
            </a:xfrm>
            <a:custGeom>
              <a:avLst/>
              <a:gdLst/>
              <a:ahLst/>
              <a:cxnLst/>
              <a:rect l="l" t="t" r="r" b="b"/>
              <a:pathLst>
                <a:path w="24417910" h="2716149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14400" y="512064"/>
            <a:ext cx="16459200" cy="1097280"/>
            <a:chOff x="0" y="0"/>
            <a:chExt cx="21945600" cy="1463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Q1 — Data Quality Check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1426464"/>
            <a:ext cx="16459200" cy="640080"/>
            <a:chOff x="0" y="0"/>
            <a:chExt cx="21945600" cy="853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Checking for NULL values and duplicate records before any analysis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5167" y="2188207"/>
            <a:ext cx="7876537" cy="3670297"/>
            <a:chOff x="0" y="0"/>
            <a:chExt cx="10502049" cy="48937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02011" cy="4893691"/>
            </a:xfrm>
            <a:custGeom>
              <a:avLst/>
              <a:gdLst/>
              <a:ahLst/>
              <a:cxnLst/>
              <a:rect l="l" t="t" r="r" b="b"/>
              <a:pathLst>
                <a:path w="10502011" h="4893691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10306304" y="0"/>
                  </a:lnTo>
                  <a:cubicBezTo>
                    <a:pt x="10414381" y="0"/>
                    <a:pt x="10502011" y="87630"/>
                    <a:pt x="10502011" y="195707"/>
                  </a:cubicBezTo>
                  <a:lnTo>
                    <a:pt x="10502011" y="4697984"/>
                  </a:lnTo>
                  <a:cubicBezTo>
                    <a:pt x="10502011" y="4806061"/>
                    <a:pt x="10414381" y="4893691"/>
                    <a:pt x="10306304" y="4893691"/>
                  </a:cubicBezTo>
                  <a:lnTo>
                    <a:pt x="195707" y="4893691"/>
                  </a:lnTo>
                  <a:cubicBezTo>
                    <a:pt x="87630" y="4893691"/>
                    <a:pt x="0" y="4806061"/>
                    <a:pt x="0" y="4697984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7280" y="2377440"/>
            <a:ext cx="7132320" cy="640080"/>
            <a:chOff x="0" y="0"/>
            <a:chExt cx="9509760" cy="8534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509760" cy="853440"/>
            </a:xfrm>
            <a:custGeom>
              <a:avLst/>
              <a:gdLst/>
              <a:ahLst/>
              <a:cxnLst/>
              <a:rect l="l" t="t" r="r" b="b"/>
              <a:pathLst>
                <a:path w="9509760" h="85344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7118" b="-16711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950976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NULL Values Found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7280" y="3145536"/>
            <a:ext cx="7132320" cy="548640"/>
            <a:chOff x="0" y="0"/>
            <a:chExt cx="9509760" cy="731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3305" b="-203305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○ 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customer.company → 49 out of 59 are NULL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97280" y="3785616"/>
            <a:ext cx="7132320" cy="548640"/>
            <a:chOff x="0" y="0"/>
            <a:chExt cx="9509760" cy="731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3305" b="-203305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○ 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customer.fax → 47 out of 59 are NULL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97280" y="4425696"/>
            <a:ext cx="7132320" cy="548640"/>
            <a:chOff x="0" y="0"/>
            <a:chExt cx="9509760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3305" b="-203305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○ 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track.composer → 978 out of 3503 are NULL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97280" y="5065776"/>
            <a:ext cx="7132320" cy="548640"/>
            <a:chOff x="0" y="0"/>
            <a:chExt cx="9509760" cy="7315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3305" b="-20330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○ 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invoice.billing_state → NULL for some countries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137647" y="2188207"/>
            <a:ext cx="7876537" cy="3670297"/>
            <a:chOff x="0" y="0"/>
            <a:chExt cx="10502049" cy="48937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502011" cy="4893691"/>
            </a:xfrm>
            <a:custGeom>
              <a:avLst/>
              <a:gdLst/>
              <a:ahLst/>
              <a:cxnLst/>
              <a:rect l="l" t="t" r="r" b="b"/>
              <a:pathLst>
                <a:path w="10502011" h="4893691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10306304" y="0"/>
                  </a:lnTo>
                  <a:cubicBezTo>
                    <a:pt x="10414381" y="0"/>
                    <a:pt x="10502011" y="87630"/>
                    <a:pt x="10502011" y="195707"/>
                  </a:cubicBezTo>
                  <a:lnTo>
                    <a:pt x="10502011" y="4697984"/>
                  </a:lnTo>
                  <a:cubicBezTo>
                    <a:pt x="10502011" y="4806061"/>
                    <a:pt x="10414381" y="4893691"/>
                    <a:pt x="10306304" y="4893691"/>
                  </a:cubicBezTo>
                  <a:lnTo>
                    <a:pt x="195707" y="4893691"/>
                  </a:lnTo>
                  <a:cubicBezTo>
                    <a:pt x="87630" y="4893691"/>
                    <a:pt x="0" y="4806061"/>
                    <a:pt x="0" y="4697984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509760" y="2377440"/>
            <a:ext cx="7132320" cy="640080"/>
            <a:chOff x="0" y="0"/>
            <a:chExt cx="9509760" cy="8534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509760" cy="853440"/>
            </a:xfrm>
            <a:custGeom>
              <a:avLst/>
              <a:gdLst/>
              <a:ahLst/>
              <a:cxnLst/>
              <a:rect l="l" t="t" r="r" b="b"/>
              <a:pathLst>
                <a:path w="9509760" h="85344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7118" b="-16711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950976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Duplicates Found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09760" y="3145536"/>
            <a:ext cx="7132320" cy="548640"/>
            <a:chOff x="0" y="0"/>
            <a:chExt cx="9509760" cy="7315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3305" b="-20330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○ 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invoice_line → 6 duplicate entries found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509760" y="3785616"/>
            <a:ext cx="7132320" cy="548640"/>
            <a:chOff x="0" y="0"/>
            <a:chExt cx="9509760" cy="7315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3305" b="-203305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○ 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track table → same name in same album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509760" y="4425696"/>
            <a:ext cx="7132320" cy="548640"/>
            <a:chOff x="0" y="0"/>
            <a:chExt cx="9509760" cy="7315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3305" b="-203305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○ 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 emails → no duplicates (clean)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09760" y="5065776"/>
            <a:ext cx="7132320" cy="548640"/>
            <a:chOff x="0" y="0"/>
            <a:chExt cx="9509760" cy="731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3305" b="-203305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○ 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employee data → fully clean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25167" y="6120127"/>
            <a:ext cx="16471897" cy="3304537"/>
            <a:chOff x="0" y="0"/>
            <a:chExt cx="21962529" cy="440604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962618" cy="4406138"/>
            </a:xfrm>
            <a:custGeom>
              <a:avLst/>
              <a:gdLst/>
              <a:ahLst/>
              <a:cxnLst/>
              <a:rect l="l" t="t" r="r" b="b"/>
              <a:pathLst>
                <a:path w="21962618" h="4406138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21766785" y="0"/>
                  </a:lnTo>
                  <a:cubicBezTo>
                    <a:pt x="21874862" y="0"/>
                    <a:pt x="21962618" y="87630"/>
                    <a:pt x="21962618" y="195834"/>
                  </a:cubicBezTo>
                  <a:lnTo>
                    <a:pt x="21962618" y="4210304"/>
                  </a:lnTo>
                  <a:cubicBezTo>
                    <a:pt x="21962618" y="4318381"/>
                    <a:pt x="21874989" y="4406138"/>
                    <a:pt x="21766785" y="4406138"/>
                  </a:cubicBezTo>
                  <a:lnTo>
                    <a:pt x="195834" y="4406138"/>
                  </a:lnTo>
                  <a:cubicBezTo>
                    <a:pt x="87630" y="4406011"/>
                    <a:pt x="0" y="4318381"/>
                    <a:pt x="0" y="4210304"/>
                  </a:cubicBezTo>
                  <a:close/>
                </a:path>
              </a:pathLst>
            </a:custGeom>
            <a:solidFill>
              <a:srgbClr val="EBF3FB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188720" y="6309360"/>
            <a:ext cx="15544800" cy="640080"/>
            <a:chOff x="0" y="0"/>
            <a:chExt cx="20726400" cy="8534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0726400" cy="853440"/>
            </a:xfrm>
            <a:custGeom>
              <a:avLst/>
              <a:gdLst/>
              <a:ahLst/>
              <a:cxnLst/>
              <a:rect l="l" t="t" r="r" b="b"/>
              <a:pathLst>
                <a:path w="20726400" h="853440">
                  <a:moveTo>
                    <a:pt x="0" y="0"/>
                  </a:moveTo>
                  <a:lnTo>
                    <a:pt x="20726400" y="0"/>
                  </a:lnTo>
                  <a:lnTo>
                    <a:pt x="20726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23208" b="-423208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57150"/>
              <a:ext cx="2072640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2563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These Were Handled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88720" y="7040880"/>
            <a:ext cx="15727680" cy="1828800"/>
            <a:chOff x="0" y="0"/>
            <a:chExt cx="20970240" cy="24384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0970239" cy="2438400"/>
            </a:xfrm>
            <a:custGeom>
              <a:avLst/>
              <a:gdLst/>
              <a:ahLst/>
              <a:cxnLst/>
              <a:rect l="l" t="t" r="r" b="b"/>
              <a:pathLst>
                <a:path w="20970239" h="2438400">
                  <a:moveTo>
                    <a:pt x="0" y="0"/>
                  </a:moveTo>
                  <a:lnTo>
                    <a:pt x="20970239" y="0"/>
                  </a:lnTo>
                  <a:lnTo>
                    <a:pt x="20970239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7571" b="-117571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20970240" cy="2486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NULLs in fax, phone, and company are optional fields — retained as-is.  978 NULL composers in the track table is a data gap worth noting.  Duplicate invoice_line entries should be cleaned by keeping the lowest invoice_line_id.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0B0BA5A-65A5-5AD3-7424-B232D5326B94}"/>
              </a:ext>
            </a:extLst>
          </p:cNvPr>
          <p:cNvGrpSpPr/>
          <p:nvPr/>
        </p:nvGrpSpPr>
        <p:grpSpPr>
          <a:xfrm>
            <a:off x="0" y="-12697"/>
            <a:ext cx="18288000" cy="2037083"/>
            <a:chOff x="0" y="0"/>
            <a:chExt cx="24417871" cy="271611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FA62CDF-ABFC-4544-90E3-F44E8BCC74EE}"/>
                </a:ext>
              </a:extLst>
            </p:cNvPr>
            <p:cNvSpPr/>
            <p:nvPr/>
          </p:nvSpPr>
          <p:spPr>
            <a:xfrm>
              <a:off x="0" y="0"/>
              <a:ext cx="24417910" cy="2716149"/>
            </a:xfrm>
            <a:custGeom>
              <a:avLst/>
              <a:gdLst/>
              <a:ahLst/>
              <a:cxnLst/>
              <a:rect l="l" t="t" r="r" b="b"/>
              <a:pathLst>
                <a:path w="24417910" h="2716149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14400" y="504920"/>
            <a:ext cx="16459200" cy="110442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6240"/>
              </a:lnSpc>
            </a:pPr>
            <a:r>
              <a:rPr lang="en-US" sz="5200" b="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Q2 — Top Tracks &amp; Artists in the USA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6800" y="1383602"/>
            <a:ext cx="16306800" cy="68294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3120"/>
              </a:lnSpc>
            </a:pPr>
            <a:r>
              <a:rPr lang="en-US" sz="2600" dirty="0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Filtered by </a:t>
            </a:r>
            <a:r>
              <a:rPr lang="en-US" sz="2600" dirty="0" err="1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billing_country</a:t>
            </a:r>
            <a:r>
              <a:rPr lang="en-US" sz="2600" dirty="0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 = 'USA' — revenue and units sold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2424BE5-FE60-C3E2-A651-C8B8238E4A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3766463"/>
              </p:ext>
            </p:extLst>
          </p:nvPr>
        </p:nvGraphicFramePr>
        <p:xfrm>
          <a:off x="881743" y="2945226"/>
          <a:ext cx="648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3021447-B507-4BD9-B5C4-6ECD153690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4926380"/>
              </p:ext>
            </p:extLst>
          </p:nvPr>
        </p:nvGraphicFramePr>
        <p:xfrm>
          <a:off x="10360200" y="2945226"/>
          <a:ext cx="648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0" name="Group 35">
            <a:extLst>
              <a:ext uri="{FF2B5EF4-FFF2-40B4-BE49-F238E27FC236}">
                <a16:creationId xmlns:a16="http://schemas.microsoft.com/office/drawing/2014/main" id="{100AA07E-C5C9-6411-8C41-F553D87CDC4F}"/>
              </a:ext>
            </a:extLst>
          </p:cNvPr>
          <p:cNvGrpSpPr/>
          <p:nvPr/>
        </p:nvGrpSpPr>
        <p:grpSpPr>
          <a:xfrm>
            <a:off x="725167" y="7505700"/>
            <a:ext cx="16837533" cy="2467481"/>
            <a:chOff x="0" y="-2419768"/>
            <a:chExt cx="22450044" cy="3289973"/>
          </a:xfrm>
        </p:grpSpPr>
        <p:sp>
          <p:nvSpPr>
            <p:cNvPr id="11" name="Freeform 36">
              <a:extLst>
                <a:ext uri="{FF2B5EF4-FFF2-40B4-BE49-F238E27FC236}">
                  <a16:creationId xmlns:a16="http://schemas.microsoft.com/office/drawing/2014/main" id="{4C6ACB7A-154A-A7B1-A2BE-CC91B91F9083}"/>
                </a:ext>
              </a:extLst>
            </p:cNvPr>
            <p:cNvSpPr/>
            <p:nvPr/>
          </p:nvSpPr>
          <p:spPr>
            <a:xfrm>
              <a:off x="0" y="-2419768"/>
              <a:ext cx="22450044" cy="3289973"/>
            </a:xfrm>
            <a:custGeom>
              <a:avLst/>
              <a:gdLst/>
              <a:ahLst/>
              <a:cxnLst/>
              <a:rect l="l" t="t" r="r" b="b"/>
              <a:pathLst>
                <a:path w="22450044" h="870204">
                  <a:moveTo>
                    <a:pt x="0" y="198882"/>
                  </a:moveTo>
                  <a:cubicBezTo>
                    <a:pt x="0" y="89027"/>
                    <a:pt x="89027" y="0"/>
                    <a:pt x="198882" y="0"/>
                  </a:cubicBezTo>
                  <a:lnTo>
                    <a:pt x="22251163" y="0"/>
                  </a:lnTo>
                  <a:cubicBezTo>
                    <a:pt x="22361018" y="0"/>
                    <a:pt x="22450044" y="89027"/>
                    <a:pt x="22450044" y="198882"/>
                  </a:cubicBezTo>
                  <a:lnTo>
                    <a:pt x="22450044" y="671322"/>
                  </a:lnTo>
                  <a:cubicBezTo>
                    <a:pt x="22450044" y="781177"/>
                    <a:pt x="22361018" y="870204"/>
                    <a:pt x="22251163" y="870204"/>
                  </a:cubicBezTo>
                  <a:lnTo>
                    <a:pt x="198882" y="870204"/>
                  </a:lnTo>
                  <a:cubicBezTo>
                    <a:pt x="89027" y="870331"/>
                    <a:pt x="0" y="781304"/>
                    <a:pt x="0" y="671449"/>
                  </a:cubicBezTo>
                  <a:close/>
                </a:path>
              </a:pathLst>
            </a:custGeom>
            <a:solidFill>
              <a:schemeClr val="tx2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Insights: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The Doors is the top-selling artist in the USA, with 8 units sold, followed by Cake (6) and Amy Winehouse (5).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“War Pigs” is the top-performing track, generating the highest revenue/value at 6, followed by “You Know My Name (Look Up the Number)” at 5.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Sales are relatively concentrated among a few top performers—The Doors leads artists, while most other artists and tracks fall in the 3–5 unit range, indicating moderate variation in popularity.</a:t>
              </a:r>
              <a:endParaRPr lang="en-IN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endParaRPr lang="en-IN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1743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716149"/>
            </a:xfrm>
            <a:custGeom>
              <a:avLst/>
              <a:gdLst/>
              <a:ahLst/>
              <a:cxnLst/>
              <a:rect l="l" t="t" r="r" b="b"/>
              <a:pathLst>
                <a:path w="24417910" h="2716149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14400" y="512064"/>
            <a:ext cx="16459200" cy="1097280"/>
            <a:chOff x="0" y="0"/>
            <a:chExt cx="21945600" cy="1463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Q4 — Revenue by Country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1426464"/>
            <a:ext cx="16459200" cy="640080"/>
            <a:chOff x="0" y="0"/>
            <a:chExt cx="21945600" cy="853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invoices and revenue grouped by billing country</a:t>
              </a:r>
            </a:p>
          </p:txBody>
        </p:sp>
      </p:grpSp>
      <p:graphicFrame>
        <p:nvGraphicFramePr>
          <p:cNvPr id="49" name="Chart 48">
            <a:extLst>
              <a:ext uri="{FF2B5EF4-FFF2-40B4-BE49-F238E27FC236}">
                <a16:creationId xmlns:a16="http://schemas.microsoft.com/office/drawing/2014/main" id="{8C7D5A53-5E5C-41DF-F119-899BDEF882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3579233"/>
              </p:ext>
            </p:extLst>
          </p:nvPr>
        </p:nvGraphicFramePr>
        <p:xfrm>
          <a:off x="816645" y="2333720"/>
          <a:ext cx="10613355" cy="65696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Rectangle 55">
            <a:extLst>
              <a:ext uri="{FF2B5EF4-FFF2-40B4-BE49-F238E27FC236}">
                <a16:creationId xmlns:a16="http://schemas.microsoft.com/office/drawing/2014/main" id="{85C66757-B6FF-4870-9BD4-D8E251E0842D}"/>
              </a:ext>
            </a:extLst>
          </p:cNvPr>
          <p:cNvSpPr/>
          <p:nvPr/>
        </p:nvSpPr>
        <p:spPr>
          <a:xfrm>
            <a:off x="11680371" y="2552700"/>
            <a:ext cx="6269955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445317-CC4E-0DA4-E13A-D944C3626B65}"/>
              </a:ext>
            </a:extLst>
          </p:cNvPr>
          <p:cNvSpPr txBox="1"/>
          <p:nvPr/>
        </p:nvSpPr>
        <p:spPr>
          <a:xfrm>
            <a:off x="12034048" y="2970740"/>
            <a:ext cx="556260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USA</a:t>
            </a:r>
            <a:r>
              <a:rPr lang="en-US" sz="2400" dirty="0">
                <a:solidFill>
                  <a:schemeClr val="bg1"/>
                </a:solidFill>
              </a:rPr>
              <a:t> is the </a:t>
            </a:r>
            <a:r>
              <a:rPr lang="en-US" sz="2400" b="1" dirty="0">
                <a:solidFill>
                  <a:schemeClr val="bg1"/>
                </a:solidFill>
              </a:rPr>
              <a:t>largest revenue-generating </a:t>
            </a:r>
            <a:r>
              <a:rPr lang="en-US" sz="2400" dirty="0">
                <a:solidFill>
                  <a:schemeClr val="bg1"/>
                </a:solidFill>
              </a:rPr>
              <a:t>market, contributing </a:t>
            </a:r>
            <a:r>
              <a:rPr lang="en-US" sz="2400" b="1" dirty="0">
                <a:solidFill>
                  <a:schemeClr val="bg1"/>
                </a:solidFill>
              </a:rPr>
              <a:t>$1,040.49</a:t>
            </a:r>
            <a:r>
              <a:rPr lang="en-US" sz="2400" dirty="0">
                <a:solidFill>
                  <a:schemeClr val="bg1"/>
                </a:solidFill>
              </a:rPr>
              <a:t>, significantly higher than every other country.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Canada</a:t>
            </a:r>
            <a:r>
              <a:rPr lang="en-US" sz="2400" dirty="0">
                <a:solidFill>
                  <a:schemeClr val="bg1"/>
                </a:solidFill>
              </a:rPr>
              <a:t> and </a:t>
            </a:r>
            <a:r>
              <a:rPr lang="en-US" sz="2400" b="1" dirty="0">
                <a:solidFill>
                  <a:schemeClr val="bg1"/>
                </a:solidFill>
              </a:rPr>
              <a:t>France</a:t>
            </a:r>
            <a:r>
              <a:rPr lang="en-US" sz="2400" dirty="0">
                <a:solidFill>
                  <a:schemeClr val="bg1"/>
                </a:solidFill>
              </a:rPr>
              <a:t> are the </a:t>
            </a:r>
            <a:r>
              <a:rPr lang="en-US" sz="2400" b="1" dirty="0">
                <a:solidFill>
                  <a:schemeClr val="bg1"/>
                </a:solidFill>
              </a:rPr>
              <a:t>next strongest markets</a:t>
            </a:r>
            <a:r>
              <a:rPr lang="en-US" sz="2400" dirty="0">
                <a:solidFill>
                  <a:schemeClr val="bg1"/>
                </a:solidFill>
              </a:rPr>
              <a:t>, generating </a:t>
            </a:r>
            <a:r>
              <a:rPr lang="en-US" sz="2400" b="1" dirty="0">
                <a:solidFill>
                  <a:schemeClr val="bg1"/>
                </a:solidFill>
              </a:rPr>
              <a:t>$535.59 </a:t>
            </a:r>
            <a:r>
              <a:rPr lang="en-US" sz="2400" dirty="0">
                <a:solidFill>
                  <a:schemeClr val="bg1"/>
                </a:solidFill>
              </a:rPr>
              <a:t>and </a:t>
            </a:r>
            <a:r>
              <a:rPr lang="en-US" sz="2400" b="1" dirty="0">
                <a:solidFill>
                  <a:schemeClr val="bg1"/>
                </a:solidFill>
              </a:rPr>
              <a:t>$389.07,</a:t>
            </a:r>
            <a:r>
              <a:rPr lang="en-US" sz="2400" dirty="0">
                <a:solidFill>
                  <a:schemeClr val="bg1"/>
                </a:solidFill>
              </a:rPr>
              <a:t> respectively, showing strong revenue performance in North America and Europe.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Revenue</a:t>
            </a:r>
            <a:r>
              <a:rPr lang="en-US" sz="2400" dirty="0">
                <a:solidFill>
                  <a:schemeClr val="bg1"/>
                </a:solidFill>
              </a:rPr>
              <a:t> is </a:t>
            </a:r>
            <a:r>
              <a:rPr lang="en-US" sz="2400" b="1" dirty="0">
                <a:solidFill>
                  <a:schemeClr val="bg1"/>
                </a:solidFill>
              </a:rPr>
              <a:t>highly concentrated in a few countries</a:t>
            </a:r>
            <a:r>
              <a:rPr lang="en-US" sz="2400" dirty="0">
                <a:solidFill>
                  <a:schemeClr val="bg1"/>
                </a:solidFill>
              </a:rPr>
              <a:t> — the </a:t>
            </a:r>
            <a:r>
              <a:rPr lang="en-US" sz="2400" b="1" dirty="0">
                <a:solidFill>
                  <a:schemeClr val="bg1"/>
                </a:solidFill>
              </a:rPr>
              <a:t>USA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Canada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Brazil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France</a:t>
            </a:r>
            <a:r>
              <a:rPr lang="en-US" sz="2400" dirty="0">
                <a:solidFill>
                  <a:schemeClr val="bg1"/>
                </a:solidFill>
              </a:rPr>
              <a:t>, and </a:t>
            </a:r>
            <a:r>
              <a:rPr lang="en-US" sz="2400" b="1" dirty="0">
                <a:solidFill>
                  <a:schemeClr val="bg1"/>
                </a:solidFill>
              </a:rPr>
              <a:t>Germany</a:t>
            </a:r>
            <a:r>
              <a:rPr lang="en-US" sz="2400" dirty="0">
                <a:solidFill>
                  <a:schemeClr val="bg1"/>
                </a:solidFill>
              </a:rPr>
              <a:t> together generate a substantial share of total revenue, while most other countries contribute comparatively smaller amounts.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716149"/>
            </a:xfrm>
            <a:custGeom>
              <a:avLst/>
              <a:gdLst/>
              <a:ahLst/>
              <a:cxnLst/>
              <a:rect l="l" t="t" r="r" b="b"/>
              <a:pathLst>
                <a:path w="24417910" h="2716149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14400" y="512064"/>
            <a:ext cx="16459200" cy="1097280"/>
            <a:chOff x="0" y="0"/>
            <a:chExt cx="21945600" cy="1463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Q5 — Top 5 Customers per Country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1426464"/>
            <a:ext cx="16459200" cy="640080"/>
            <a:chOff x="0" y="0"/>
            <a:chExt cx="21945600" cy="853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RANK() window function partitioned by country — revenue leaders by region</a:t>
              </a:r>
            </a:p>
          </p:txBody>
        </p:sp>
      </p:grp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7D7607C4-2F05-16A1-112E-2B9C67A02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671249"/>
              </p:ext>
            </p:extLst>
          </p:nvPr>
        </p:nvGraphicFramePr>
        <p:xfrm>
          <a:off x="533400" y="2781300"/>
          <a:ext cx="9601200" cy="5516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396332696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482923825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3634628675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417529962"/>
                    </a:ext>
                  </a:extLst>
                </a:gridCol>
              </a:tblGrid>
              <a:tr h="833325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Total Spent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176461"/>
                  </a:ext>
                </a:extLst>
              </a:tr>
              <a:tr h="833325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Brazil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LuÃ­s</a:t>
                      </a:r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IN" sz="28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GonÃ§alves</a:t>
                      </a:r>
                      <a:endParaRPr lang="en-IN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108.9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130264"/>
                  </a:ext>
                </a:extLst>
              </a:tr>
              <a:tr h="1014973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Czech republic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FrantiÅ¡ek</a:t>
                      </a:r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IN" sz="28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WichterlovÃ</a:t>
                      </a:r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144.54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100051"/>
                  </a:ext>
                </a:extLst>
              </a:tr>
              <a:tr h="833325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Czech Republic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Helena HolÃ½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128.7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847038"/>
                  </a:ext>
                </a:extLst>
              </a:tr>
              <a:tr h="833325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Manoj Pareek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111.87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835793"/>
                  </a:ext>
                </a:extLst>
              </a:tr>
              <a:tr h="833325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Ireland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Hugh O'Reilly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114.84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781554"/>
                  </a:ext>
                </a:extLst>
              </a:tr>
            </a:tbl>
          </a:graphicData>
        </a:graphic>
      </p:graphicFrame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2637FFE-08CF-A7D4-DCF2-A7F5F8663233}"/>
              </a:ext>
            </a:extLst>
          </p:cNvPr>
          <p:cNvSpPr/>
          <p:nvPr/>
        </p:nvSpPr>
        <p:spPr>
          <a:xfrm>
            <a:off x="11049000" y="2628900"/>
            <a:ext cx="6705600" cy="594360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44448C-5FDC-A932-57C7-E5CC262D669B}"/>
              </a:ext>
            </a:extLst>
          </p:cNvPr>
          <p:cNvSpPr txBox="1"/>
          <p:nvPr/>
        </p:nvSpPr>
        <p:spPr>
          <a:xfrm>
            <a:off x="11277600" y="3311843"/>
            <a:ext cx="6324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Insights:</a:t>
            </a:r>
            <a:endParaRPr lang="en-US" sz="20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</a:rPr>
              <a:t>František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Wichterlová</a:t>
            </a:r>
            <a:r>
              <a:rPr lang="en-US" sz="2000" b="1" dirty="0">
                <a:solidFill>
                  <a:schemeClr val="bg1"/>
                </a:solidFill>
              </a:rPr>
              <a:t> is the highest-spending customer</a:t>
            </a:r>
            <a:r>
              <a:rPr lang="en-US" sz="2000" dirty="0">
                <a:solidFill>
                  <a:schemeClr val="bg1"/>
                </a:solidFill>
              </a:rPr>
              <a:t>, ranking #1 in the Czech Republic with </a:t>
            </a:r>
            <a:r>
              <a:rPr lang="en-US" sz="2000" b="1" dirty="0">
                <a:solidFill>
                  <a:schemeClr val="bg1"/>
                </a:solidFill>
              </a:rPr>
              <a:t>$144.54</a:t>
            </a:r>
            <a:r>
              <a:rPr lang="en-US" sz="2000" dirty="0">
                <a:solidFill>
                  <a:schemeClr val="bg1"/>
                </a:solidFill>
              </a:rPr>
              <a:t> in total spending.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The Czech Republic shows the strongest customer spending among the listed countries</a:t>
            </a:r>
            <a:r>
              <a:rPr lang="en-US" sz="2000" dirty="0">
                <a:solidFill>
                  <a:schemeClr val="bg1"/>
                </a:solidFill>
              </a:rPr>
              <a:t>, with its top two customers spending </a:t>
            </a:r>
            <a:r>
              <a:rPr lang="en-US" sz="2000" b="1" dirty="0">
                <a:solidFill>
                  <a:schemeClr val="bg1"/>
                </a:solidFill>
              </a:rPr>
              <a:t>$144.54</a:t>
            </a:r>
            <a:r>
              <a:rPr lang="en-US" sz="2000" dirty="0">
                <a:solidFill>
                  <a:schemeClr val="bg1"/>
                </a:solidFill>
              </a:rPr>
              <a:t> and </a:t>
            </a:r>
            <a:r>
              <a:rPr lang="en-US" sz="2000" b="1" dirty="0">
                <a:solidFill>
                  <a:schemeClr val="bg1"/>
                </a:solidFill>
              </a:rPr>
              <a:t>$128.70</a:t>
            </a:r>
            <a:r>
              <a:rPr lang="en-US" sz="2000" dirty="0">
                <a:solidFill>
                  <a:schemeClr val="bg1"/>
                </a:solidFill>
              </a:rPr>
              <a:t>, indicating multiple high-value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Top customers vary significantly across countries</a:t>
            </a:r>
            <a:r>
              <a:rPr lang="en-US" sz="2000" dirty="0">
                <a:solidFill>
                  <a:schemeClr val="bg1"/>
                </a:solidFill>
              </a:rPr>
              <a:t>, with Manoj Pareek (India) at </a:t>
            </a:r>
            <a:r>
              <a:rPr lang="en-US" sz="2000" b="1" dirty="0">
                <a:solidFill>
                  <a:schemeClr val="bg1"/>
                </a:solidFill>
              </a:rPr>
              <a:t>$111.87</a:t>
            </a:r>
            <a:r>
              <a:rPr lang="en-US" sz="2000" dirty="0">
                <a:solidFill>
                  <a:schemeClr val="bg1"/>
                </a:solidFill>
              </a:rPr>
              <a:t>, Hugh O'Reilly (Ireland) at </a:t>
            </a:r>
            <a:r>
              <a:rPr lang="en-US" sz="2000" b="1" dirty="0">
                <a:solidFill>
                  <a:schemeClr val="bg1"/>
                </a:solidFill>
              </a:rPr>
              <a:t>$114.84</a:t>
            </a:r>
            <a:r>
              <a:rPr lang="en-US" sz="2000" dirty="0">
                <a:solidFill>
                  <a:schemeClr val="bg1"/>
                </a:solidFill>
              </a:rPr>
              <a:t>, and Luís Gonçalves (Brazil) at </a:t>
            </a:r>
            <a:r>
              <a:rPr lang="en-US" sz="2000" b="1" dirty="0">
                <a:solidFill>
                  <a:schemeClr val="bg1"/>
                </a:solidFill>
              </a:rPr>
              <a:t>$108.90</a:t>
            </a:r>
            <a:r>
              <a:rPr lang="en-US" sz="2000" dirty="0">
                <a:solidFill>
                  <a:schemeClr val="bg1"/>
                </a:solidFill>
              </a:rPr>
              <a:t>, showing strong individual customer value across different markets.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716149"/>
            </a:xfrm>
            <a:custGeom>
              <a:avLst/>
              <a:gdLst/>
              <a:ahLst/>
              <a:cxnLst/>
              <a:rect l="l" t="t" r="r" b="b"/>
              <a:pathLst>
                <a:path w="24417910" h="2716149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14400" y="512064"/>
            <a:ext cx="16459200" cy="1097280"/>
            <a:chOff x="0" y="0"/>
            <a:chExt cx="21945600" cy="1463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Q8 — Customer Churn Rate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1426464"/>
            <a:ext cx="16459200" cy="640080"/>
            <a:chOff x="0" y="0"/>
            <a:chExt cx="21945600" cy="853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Customers with no purchase in the 3 months before dataset end date (Dec 2013)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03407" y="2188207"/>
            <a:ext cx="3853177" cy="2755897"/>
            <a:chOff x="0" y="0"/>
            <a:chExt cx="5137569" cy="3674529"/>
          </a:xfrm>
          <a:solidFill>
            <a:schemeClr val="tx2"/>
          </a:solidFill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37531" cy="3674491"/>
            </a:xfrm>
            <a:custGeom>
              <a:avLst/>
              <a:gdLst/>
              <a:ahLst/>
              <a:cxnLst/>
              <a:rect l="l" t="t" r="r" b="b"/>
              <a:pathLst>
                <a:path w="5137531" h="367449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grpFill/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509760" y="2523744"/>
            <a:ext cx="3840480" cy="1280160"/>
            <a:chOff x="0" y="0"/>
            <a:chExt cx="5120640" cy="17068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20640" cy="1706880"/>
            </a:xfrm>
            <a:custGeom>
              <a:avLst/>
              <a:gdLst/>
              <a:ahLst/>
              <a:cxnLst/>
              <a:rect l="l" t="t" r="r" b="b"/>
              <a:pathLst>
                <a:path w="5120640" h="170688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 dirty="0">
                  <a:solidFill>
                    <a:srgbClr val="2563A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59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09760" y="3840480"/>
            <a:ext cx="3840480" cy="822960"/>
            <a:chOff x="0" y="0"/>
            <a:chExt cx="5120640" cy="10972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120640" cy="1097280"/>
            </a:xfrm>
            <a:custGeom>
              <a:avLst/>
              <a:gdLst/>
              <a:ahLst/>
              <a:cxnLst/>
              <a:rect l="l" t="t" r="r" b="b"/>
              <a:pathLst>
                <a:path w="5120640" h="109728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dirty="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Customers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709647" y="2188207"/>
            <a:ext cx="3853177" cy="2755897"/>
            <a:chOff x="0" y="0"/>
            <a:chExt cx="5137569" cy="3674529"/>
          </a:xfrm>
          <a:solidFill>
            <a:schemeClr val="tx2"/>
          </a:solidFill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37531" cy="3674491"/>
            </a:xfrm>
            <a:custGeom>
              <a:avLst/>
              <a:gdLst/>
              <a:ahLst/>
              <a:cxnLst/>
              <a:rect l="l" t="t" r="r" b="b"/>
              <a:pathLst>
                <a:path w="5137531" h="367449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grpFill/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3716000" y="2523744"/>
            <a:ext cx="3840480" cy="1280160"/>
            <a:chOff x="0" y="0"/>
            <a:chExt cx="5120640" cy="17068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120640" cy="1706880"/>
            </a:xfrm>
            <a:custGeom>
              <a:avLst/>
              <a:gdLst/>
              <a:ahLst/>
              <a:cxnLst/>
              <a:rect l="l" t="t" r="r" b="b"/>
              <a:pathLst>
                <a:path w="5120640" h="170688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>
                  <a:solidFill>
                    <a:srgbClr val="DC262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38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716000" y="3840480"/>
            <a:ext cx="3840480" cy="822960"/>
            <a:chOff x="0" y="0"/>
            <a:chExt cx="5120640" cy="10972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120640" cy="1097280"/>
            </a:xfrm>
            <a:custGeom>
              <a:avLst/>
              <a:gdLst/>
              <a:ahLst/>
              <a:cxnLst/>
              <a:rect l="l" t="t" r="r" b="b"/>
              <a:pathLst>
                <a:path w="5120640" h="109728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Churned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503407" y="5297167"/>
            <a:ext cx="3853177" cy="2755897"/>
            <a:chOff x="0" y="0"/>
            <a:chExt cx="5137569" cy="3674529"/>
          </a:xfrm>
          <a:solidFill>
            <a:schemeClr val="tx2"/>
          </a:solidFill>
        </p:grpSpPr>
        <p:sp>
          <p:nvSpPr>
            <p:cNvPr id="28" name="Freeform 28"/>
            <p:cNvSpPr/>
            <p:nvPr/>
          </p:nvSpPr>
          <p:spPr>
            <a:xfrm>
              <a:off x="0" y="0"/>
              <a:ext cx="5137531" cy="3674491"/>
            </a:xfrm>
            <a:custGeom>
              <a:avLst/>
              <a:gdLst/>
              <a:ahLst/>
              <a:cxnLst/>
              <a:rect l="l" t="t" r="r" b="b"/>
              <a:pathLst>
                <a:path w="5137531" h="367449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grpFill/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509760" y="5632704"/>
            <a:ext cx="3840480" cy="1280160"/>
            <a:chOff x="0" y="0"/>
            <a:chExt cx="5120640" cy="17068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120640" cy="1706880"/>
            </a:xfrm>
            <a:custGeom>
              <a:avLst/>
              <a:gdLst/>
              <a:ahLst/>
              <a:cxnLst/>
              <a:rect l="l" t="t" r="r" b="b"/>
              <a:pathLst>
                <a:path w="5120640" h="170688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>
                  <a:solidFill>
                    <a:srgbClr val="05966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21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09760" y="6949440"/>
            <a:ext cx="3840480" cy="822960"/>
            <a:chOff x="0" y="0"/>
            <a:chExt cx="5120640" cy="10972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120640" cy="1097280"/>
            </a:xfrm>
            <a:custGeom>
              <a:avLst/>
              <a:gdLst/>
              <a:ahLst/>
              <a:cxnLst/>
              <a:rect l="l" t="t" r="r" b="b"/>
              <a:pathLst>
                <a:path w="5120640" h="109728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Still Active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709647" y="5297167"/>
            <a:ext cx="3853177" cy="2755897"/>
            <a:chOff x="0" y="0"/>
            <a:chExt cx="5137569" cy="3674529"/>
          </a:xfrm>
          <a:solidFill>
            <a:schemeClr val="tx2"/>
          </a:solidFill>
        </p:grpSpPr>
        <p:sp>
          <p:nvSpPr>
            <p:cNvPr id="36" name="Freeform 36"/>
            <p:cNvSpPr/>
            <p:nvPr/>
          </p:nvSpPr>
          <p:spPr>
            <a:xfrm>
              <a:off x="0" y="0"/>
              <a:ext cx="5137531" cy="3674491"/>
            </a:xfrm>
            <a:custGeom>
              <a:avLst/>
              <a:gdLst/>
              <a:ahLst/>
              <a:cxnLst/>
              <a:rect l="l" t="t" r="r" b="b"/>
              <a:pathLst>
                <a:path w="5137531" h="367449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grpFill/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3716000" y="5632704"/>
            <a:ext cx="3840480" cy="1280160"/>
            <a:chOff x="0" y="0"/>
            <a:chExt cx="5120640" cy="170688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120640" cy="1706880"/>
            </a:xfrm>
            <a:custGeom>
              <a:avLst/>
              <a:gdLst/>
              <a:ahLst/>
              <a:cxnLst/>
              <a:rect l="l" t="t" r="r" b="b"/>
              <a:pathLst>
                <a:path w="5120640" h="170688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>
                  <a:solidFill>
                    <a:srgbClr val="DC262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64%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716000" y="6949440"/>
            <a:ext cx="3840480" cy="822960"/>
            <a:chOff x="0" y="0"/>
            <a:chExt cx="5120640" cy="10972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120640" cy="1097280"/>
            </a:xfrm>
            <a:custGeom>
              <a:avLst/>
              <a:gdLst/>
              <a:ahLst/>
              <a:cxnLst/>
              <a:rect l="l" t="t" r="r" b="b"/>
              <a:pathLst>
                <a:path w="5120640" h="109728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Churn Rate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503407" y="8314687"/>
            <a:ext cx="8059417" cy="1750057"/>
            <a:chOff x="0" y="0"/>
            <a:chExt cx="10745889" cy="233340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745850" cy="2333371"/>
            </a:xfrm>
            <a:custGeom>
              <a:avLst/>
              <a:gdLst/>
              <a:ahLst/>
              <a:cxnLst/>
              <a:rect l="l" t="t" r="r" b="b"/>
              <a:pathLst>
                <a:path w="10745850" h="2333371">
                  <a:moveTo>
                    <a:pt x="0" y="196469"/>
                  </a:moveTo>
                  <a:cubicBezTo>
                    <a:pt x="0" y="88011"/>
                    <a:pt x="88011" y="0"/>
                    <a:pt x="196469" y="0"/>
                  </a:cubicBezTo>
                  <a:lnTo>
                    <a:pt x="10549382" y="0"/>
                  </a:lnTo>
                  <a:cubicBezTo>
                    <a:pt x="10657967" y="0"/>
                    <a:pt x="10745850" y="88011"/>
                    <a:pt x="10745850" y="196469"/>
                  </a:cubicBezTo>
                  <a:lnTo>
                    <a:pt x="10745850" y="2136902"/>
                  </a:lnTo>
                  <a:cubicBezTo>
                    <a:pt x="10745850" y="2245487"/>
                    <a:pt x="10657839" y="2333371"/>
                    <a:pt x="10549382" y="2333371"/>
                  </a:cubicBezTo>
                  <a:lnTo>
                    <a:pt x="196469" y="2333371"/>
                  </a:lnTo>
                  <a:cubicBezTo>
                    <a:pt x="88011" y="2333371"/>
                    <a:pt x="0" y="2245487"/>
                    <a:pt x="0" y="2136902"/>
                  </a:cubicBezTo>
                  <a:close/>
                </a:path>
              </a:pathLst>
            </a:custGeom>
            <a:solidFill>
              <a:srgbClr val="FEF2F2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9875520" y="8449056"/>
            <a:ext cx="7315200" cy="512064"/>
            <a:chOff x="0" y="0"/>
            <a:chExt cx="9753600" cy="68275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753600" cy="682752"/>
            </a:xfrm>
            <a:custGeom>
              <a:avLst/>
              <a:gdLst/>
              <a:ahLst/>
              <a:cxnLst/>
              <a:rect l="l" t="t" r="r" b="b"/>
              <a:pathLst>
                <a:path w="9753600" h="682752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This Means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875520" y="8997696"/>
            <a:ext cx="7315200" cy="914400"/>
            <a:chOff x="0" y="0"/>
            <a:chExt cx="9753600" cy="12192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753600" cy="1219200"/>
            </a:xfrm>
            <a:custGeom>
              <a:avLst/>
              <a:gdLst/>
              <a:ahLst/>
              <a:cxnLst/>
              <a:rect l="l" t="t" r="r" b="b"/>
              <a:pathLst>
                <a:path w="9753600" h="12192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975360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64% churn is high but expected for a historical dataset. Re-engagement campaigns targeting the 38 churned customers via email is the immediate action.</a:t>
              </a:r>
            </a:p>
          </p:txBody>
        </p:sp>
      </p:grpSp>
      <p:graphicFrame>
        <p:nvGraphicFramePr>
          <p:cNvPr id="51" name="Chart 50">
            <a:extLst>
              <a:ext uri="{FF2B5EF4-FFF2-40B4-BE49-F238E27FC236}">
                <a16:creationId xmlns:a16="http://schemas.microsoft.com/office/drawing/2014/main" id="{1F29A79A-6493-FD4B-5E21-9B2EA28191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1523036"/>
              </p:ext>
            </p:extLst>
          </p:nvPr>
        </p:nvGraphicFramePr>
        <p:xfrm>
          <a:off x="20529" y="2024414"/>
          <a:ext cx="9522000" cy="82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716149"/>
            </a:xfrm>
            <a:custGeom>
              <a:avLst/>
              <a:gdLst/>
              <a:ahLst/>
              <a:cxnLst/>
              <a:rect l="l" t="t" r="r" b="b"/>
              <a:pathLst>
                <a:path w="24417910" h="2716149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14400" y="512064"/>
            <a:ext cx="16459200" cy="1097280"/>
            <a:chOff x="0" y="0"/>
            <a:chExt cx="21945600" cy="1463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Q7 — Customer Purchasing Behavior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1426464"/>
            <a:ext cx="16459200" cy="640080"/>
            <a:chOff x="0" y="0"/>
            <a:chExt cx="21945600" cy="853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Frequency, basket size, average order value — across all 59 customers</a:t>
              </a:r>
            </a:p>
          </p:txBody>
        </p:sp>
      </p:grpSp>
      <p:graphicFrame>
        <p:nvGraphicFramePr>
          <p:cNvPr id="48" name="Chart 47">
            <a:extLst>
              <a:ext uri="{FF2B5EF4-FFF2-40B4-BE49-F238E27FC236}">
                <a16:creationId xmlns:a16="http://schemas.microsoft.com/office/drawing/2014/main" id="{1E343BA1-9316-9E11-BD2F-B9C66248D1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2914598"/>
              </p:ext>
            </p:extLst>
          </p:nvPr>
        </p:nvGraphicFramePr>
        <p:xfrm>
          <a:off x="32657" y="2938083"/>
          <a:ext cx="9111343" cy="657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1" name="Rectangle: Diagonal Corners Rounded 50">
            <a:extLst>
              <a:ext uri="{FF2B5EF4-FFF2-40B4-BE49-F238E27FC236}">
                <a16:creationId xmlns:a16="http://schemas.microsoft.com/office/drawing/2014/main" id="{6CC8785D-0A3E-0A9D-B6DA-EF703B8D731A}"/>
              </a:ext>
            </a:extLst>
          </p:cNvPr>
          <p:cNvSpPr/>
          <p:nvPr/>
        </p:nvSpPr>
        <p:spPr>
          <a:xfrm>
            <a:off x="10820400" y="4076700"/>
            <a:ext cx="6553200" cy="4826698"/>
          </a:xfrm>
          <a:prstGeom prst="round2Diag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C06A84-F6D9-E58E-57C3-1AD1348ADF27}"/>
              </a:ext>
            </a:extLst>
          </p:cNvPr>
          <p:cNvSpPr txBox="1"/>
          <p:nvPr/>
        </p:nvSpPr>
        <p:spPr>
          <a:xfrm>
            <a:off x="11277600" y="4453368"/>
            <a:ext cx="60960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Key Insights: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2400" dirty="0" err="1">
                <a:solidFill>
                  <a:schemeClr val="bg1"/>
                </a:solidFill>
              </a:rPr>
              <a:t>František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Wichterlová</a:t>
            </a:r>
            <a:r>
              <a:rPr lang="en-US" sz="2400" dirty="0">
                <a:solidFill>
                  <a:schemeClr val="bg1"/>
                </a:solidFill>
              </a:rPr>
              <a:t> is the highest-spending customer with </a:t>
            </a:r>
            <a:r>
              <a:rPr lang="en-US" sz="2400" b="1" dirty="0">
                <a:solidFill>
                  <a:schemeClr val="bg1"/>
                </a:solidFill>
              </a:rPr>
              <a:t>1,683</a:t>
            </a:r>
            <a:r>
              <a:rPr lang="en-US" sz="2400" dirty="0">
                <a:solidFill>
                  <a:schemeClr val="bg1"/>
                </a:solidFill>
              </a:rPr>
              <a:t> in total purchases.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Purchase frequency and customer value are not always directly related</a:t>
            </a:r>
            <a:r>
              <a:rPr lang="en-US" sz="2400" dirty="0">
                <a:solidFill>
                  <a:schemeClr val="bg1"/>
                </a:solidFill>
              </a:rPr>
              <a:t>, as frequent buyers can still have lower total spending.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The top customers contribute substantially more revenue, making </a:t>
            </a:r>
            <a:r>
              <a:rPr lang="en-US" sz="2400" b="1" dirty="0">
                <a:solidFill>
                  <a:schemeClr val="bg1"/>
                </a:solidFill>
              </a:rPr>
              <a:t>high-value customer retention</a:t>
            </a:r>
            <a:r>
              <a:rPr lang="en-US" sz="2400" dirty="0">
                <a:solidFill>
                  <a:schemeClr val="bg1"/>
                </a:solidFill>
              </a:rPr>
              <a:t> an important business opportunity.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716149"/>
            </a:xfrm>
            <a:custGeom>
              <a:avLst/>
              <a:gdLst/>
              <a:ahLst/>
              <a:cxnLst/>
              <a:rect l="l" t="t" r="r" b="b"/>
              <a:pathLst>
                <a:path w="24417910" h="2716149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14400" y="512064"/>
            <a:ext cx="16459200" cy="1097280"/>
            <a:chOff x="0" y="0"/>
            <a:chExt cx="21945600" cy="1463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Q9 &amp; Q11 — Genre Performance in USA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1426464"/>
            <a:ext cx="16459200" cy="640080"/>
            <a:chOff x="0" y="0"/>
            <a:chExt cx="21945600" cy="853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Revenue percentage and ranking of all genres in the USA market</a:t>
              </a:r>
            </a:p>
          </p:txBody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760" y="1609344"/>
            <a:ext cx="10972800" cy="8363836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10149840" y="2286000"/>
            <a:ext cx="7315200" cy="640080"/>
            <a:chOff x="0" y="0"/>
            <a:chExt cx="9753600" cy="8534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753600" cy="853440"/>
            </a:xfrm>
            <a:custGeom>
              <a:avLst/>
              <a:gdLst/>
              <a:ahLst/>
              <a:cxnLst/>
              <a:rect l="l" t="t" r="r" b="b"/>
              <a:pathLst>
                <a:path w="9753600" h="85344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975360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Genre Leaderboard — USA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143487" y="3066031"/>
            <a:ext cx="7327897" cy="1109977"/>
            <a:chOff x="0" y="0"/>
            <a:chExt cx="9770529" cy="147996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770618" cy="1480058"/>
            </a:xfrm>
            <a:custGeom>
              <a:avLst/>
              <a:gdLst/>
              <a:ahLst/>
              <a:cxnLst/>
              <a:rect l="l" t="t" r="r" b="b"/>
              <a:pathLst>
                <a:path w="9770618" h="1480058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9573260" y="0"/>
                  </a:lnTo>
                  <a:cubicBezTo>
                    <a:pt x="9682226" y="0"/>
                    <a:pt x="9770618" y="88392"/>
                    <a:pt x="9770618" y="197358"/>
                  </a:cubicBezTo>
                  <a:lnTo>
                    <a:pt x="9770618" y="1282700"/>
                  </a:lnTo>
                  <a:cubicBezTo>
                    <a:pt x="9770618" y="1391666"/>
                    <a:pt x="9682226" y="1480058"/>
                    <a:pt x="9573260" y="1480058"/>
                  </a:cubicBezTo>
                  <a:lnTo>
                    <a:pt x="197358" y="1480058"/>
                  </a:lnTo>
                  <a:cubicBezTo>
                    <a:pt x="88392" y="1479931"/>
                    <a:pt x="0" y="1391666"/>
                    <a:pt x="0" y="1282700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0424160" y="3255264"/>
            <a:ext cx="731520" cy="694944"/>
            <a:chOff x="0" y="0"/>
            <a:chExt cx="975360" cy="9265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75360" cy="926592"/>
            </a:xfrm>
            <a:custGeom>
              <a:avLst/>
              <a:gdLst/>
              <a:ahLst/>
              <a:cxnLst/>
              <a:rect l="l" t="t" r="r" b="b"/>
              <a:pathLst>
                <a:path w="975360" h="926592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888" r="-71888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97536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 dirty="0">
                  <a:solidFill>
                    <a:srgbClr val="2563A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247120" y="3255264"/>
            <a:ext cx="4023360" cy="694944"/>
            <a:chOff x="0" y="0"/>
            <a:chExt cx="5364480" cy="9265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364480" cy="926592"/>
            </a:xfrm>
            <a:custGeom>
              <a:avLst/>
              <a:gdLst/>
              <a:ahLst/>
              <a:cxnLst/>
              <a:rect l="l" t="t" r="r" b="b"/>
              <a:pathLst>
                <a:path w="5364480" h="926592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808" b="-62808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Rock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179040" y="3255264"/>
            <a:ext cx="2011680" cy="694944"/>
            <a:chOff x="0" y="0"/>
            <a:chExt cx="2682240" cy="9265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04" b="-6404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6822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2563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$157.43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143487" y="4382767"/>
            <a:ext cx="7327897" cy="1109977"/>
            <a:chOff x="0" y="0"/>
            <a:chExt cx="9770529" cy="147996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770618" cy="1480058"/>
            </a:xfrm>
            <a:custGeom>
              <a:avLst/>
              <a:gdLst/>
              <a:ahLst/>
              <a:cxnLst/>
              <a:rect l="l" t="t" r="r" b="b"/>
              <a:pathLst>
                <a:path w="9770618" h="1480058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9573260" y="0"/>
                  </a:lnTo>
                  <a:cubicBezTo>
                    <a:pt x="9682226" y="0"/>
                    <a:pt x="9770618" y="88392"/>
                    <a:pt x="9770618" y="197358"/>
                  </a:cubicBezTo>
                  <a:lnTo>
                    <a:pt x="9770618" y="1282700"/>
                  </a:lnTo>
                  <a:cubicBezTo>
                    <a:pt x="9770618" y="1391666"/>
                    <a:pt x="9682226" y="1480058"/>
                    <a:pt x="9573260" y="1480058"/>
                  </a:cubicBezTo>
                  <a:lnTo>
                    <a:pt x="197358" y="1480058"/>
                  </a:lnTo>
                  <a:cubicBezTo>
                    <a:pt x="88392" y="1479931"/>
                    <a:pt x="0" y="1391666"/>
                    <a:pt x="0" y="1282700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0424160" y="4572000"/>
            <a:ext cx="731520" cy="694944"/>
            <a:chOff x="0" y="0"/>
            <a:chExt cx="975360" cy="92659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75360" cy="926592"/>
            </a:xfrm>
            <a:custGeom>
              <a:avLst/>
              <a:gdLst/>
              <a:ahLst/>
              <a:cxnLst/>
              <a:rect l="l" t="t" r="r" b="b"/>
              <a:pathLst>
                <a:path w="975360" h="926592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888" r="-7188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97536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0D948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247120" y="4572000"/>
            <a:ext cx="4023360" cy="694944"/>
            <a:chOff x="0" y="0"/>
            <a:chExt cx="5364480" cy="92659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364480" cy="926592"/>
            </a:xfrm>
            <a:custGeom>
              <a:avLst/>
              <a:gdLst/>
              <a:ahLst/>
              <a:cxnLst/>
              <a:rect l="l" t="t" r="r" b="b"/>
              <a:pathLst>
                <a:path w="5364480" h="926592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808" b="-62808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Latin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5179040" y="4572000"/>
            <a:ext cx="2011680" cy="694944"/>
            <a:chOff x="0" y="0"/>
            <a:chExt cx="2682240" cy="92659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04" b="-6404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26822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$90.09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143487" y="5699503"/>
            <a:ext cx="7327897" cy="1109977"/>
            <a:chOff x="0" y="0"/>
            <a:chExt cx="9770529" cy="147996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770618" cy="1480058"/>
            </a:xfrm>
            <a:custGeom>
              <a:avLst/>
              <a:gdLst/>
              <a:ahLst/>
              <a:cxnLst/>
              <a:rect l="l" t="t" r="r" b="b"/>
              <a:pathLst>
                <a:path w="9770618" h="1480058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9573260" y="0"/>
                  </a:lnTo>
                  <a:cubicBezTo>
                    <a:pt x="9682226" y="0"/>
                    <a:pt x="9770618" y="88392"/>
                    <a:pt x="9770618" y="197358"/>
                  </a:cubicBezTo>
                  <a:lnTo>
                    <a:pt x="9770618" y="1282700"/>
                  </a:lnTo>
                  <a:cubicBezTo>
                    <a:pt x="9770618" y="1391666"/>
                    <a:pt x="9682226" y="1480058"/>
                    <a:pt x="9573260" y="1480058"/>
                  </a:cubicBezTo>
                  <a:lnTo>
                    <a:pt x="197358" y="1480058"/>
                  </a:lnTo>
                  <a:cubicBezTo>
                    <a:pt x="88392" y="1479931"/>
                    <a:pt x="0" y="1391666"/>
                    <a:pt x="0" y="1282700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0424160" y="5888736"/>
            <a:ext cx="731520" cy="694944"/>
            <a:chOff x="0" y="0"/>
            <a:chExt cx="975360" cy="9265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75360" cy="926592"/>
            </a:xfrm>
            <a:custGeom>
              <a:avLst/>
              <a:gdLst/>
              <a:ahLst/>
              <a:cxnLst/>
              <a:rect l="l" t="t" r="r" b="b"/>
              <a:pathLst>
                <a:path w="975360" h="926592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888" r="-71888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97536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7C3AE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247120" y="5888736"/>
            <a:ext cx="4023360" cy="694944"/>
            <a:chOff x="0" y="0"/>
            <a:chExt cx="5364480" cy="92659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364480" cy="926592"/>
            </a:xfrm>
            <a:custGeom>
              <a:avLst/>
              <a:gdLst/>
              <a:ahLst/>
              <a:cxnLst/>
              <a:rect l="l" t="t" r="r" b="b"/>
              <a:pathLst>
                <a:path w="5364480" h="926592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808" b="-62808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Metal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5179040" y="5888736"/>
            <a:ext cx="2011680" cy="694944"/>
            <a:chOff x="0" y="0"/>
            <a:chExt cx="2682240" cy="9265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04" b="-6404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26822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$63.36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143487" y="7016239"/>
            <a:ext cx="7327897" cy="1109977"/>
            <a:chOff x="0" y="0"/>
            <a:chExt cx="9770529" cy="147996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770618" cy="1480058"/>
            </a:xfrm>
            <a:custGeom>
              <a:avLst/>
              <a:gdLst/>
              <a:ahLst/>
              <a:cxnLst/>
              <a:rect l="l" t="t" r="r" b="b"/>
              <a:pathLst>
                <a:path w="9770618" h="1480058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9573260" y="0"/>
                  </a:lnTo>
                  <a:cubicBezTo>
                    <a:pt x="9682226" y="0"/>
                    <a:pt x="9770618" y="88392"/>
                    <a:pt x="9770618" y="197358"/>
                  </a:cubicBezTo>
                  <a:lnTo>
                    <a:pt x="9770618" y="1282700"/>
                  </a:lnTo>
                  <a:cubicBezTo>
                    <a:pt x="9770618" y="1391666"/>
                    <a:pt x="9682226" y="1480058"/>
                    <a:pt x="9573260" y="1480058"/>
                  </a:cubicBezTo>
                  <a:lnTo>
                    <a:pt x="197358" y="1480058"/>
                  </a:lnTo>
                  <a:cubicBezTo>
                    <a:pt x="88392" y="1479931"/>
                    <a:pt x="0" y="1391666"/>
                    <a:pt x="0" y="1282700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0424160" y="7205472"/>
            <a:ext cx="731520" cy="694944"/>
            <a:chOff x="0" y="0"/>
            <a:chExt cx="975360" cy="92659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75360" cy="926592"/>
            </a:xfrm>
            <a:custGeom>
              <a:avLst/>
              <a:gdLst/>
              <a:ahLst/>
              <a:cxnLst/>
              <a:rect l="l" t="t" r="r" b="b"/>
              <a:pathLst>
                <a:path w="975360" h="926592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888" r="-71888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9525"/>
              <a:ext cx="97536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F59E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247120" y="7205472"/>
            <a:ext cx="4023360" cy="694944"/>
            <a:chOff x="0" y="0"/>
            <a:chExt cx="5364480" cy="92659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364480" cy="926592"/>
            </a:xfrm>
            <a:custGeom>
              <a:avLst/>
              <a:gdLst/>
              <a:ahLst/>
              <a:cxnLst/>
              <a:rect l="l" t="t" r="r" b="b"/>
              <a:pathLst>
                <a:path w="5364480" h="926592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808" b="-62808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Alt &amp; Punk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5179040" y="7205472"/>
            <a:ext cx="2011680" cy="694944"/>
            <a:chOff x="0" y="0"/>
            <a:chExt cx="2682240" cy="92659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04" b="-6404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26822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$49.50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0143487" y="8332975"/>
            <a:ext cx="7327897" cy="1109977"/>
            <a:chOff x="0" y="0"/>
            <a:chExt cx="9770529" cy="1479969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9770618" cy="1480058"/>
            </a:xfrm>
            <a:custGeom>
              <a:avLst/>
              <a:gdLst/>
              <a:ahLst/>
              <a:cxnLst/>
              <a:rect l="l" t="t" r="r" b="b"/>
              <a:pathLst>
                <a:path w="9770618" h="1480058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9573260" y="0"/>
                  </a:lnTo>
                  <a:cubicBezTo>
                    <a:pt x="9682226" y="0"/>
                    <a:pt x="9770618" y="88392"/>
                    <a:pt x="9770618" y="197358"/>
                  </a:cubicBezTo>
                  <a:lnTo>
                    <a:pt x="9770618" y="1282700"/>
                  </a:lnTo>
                  <a:cubicBezTo>
                    <a:pt x="9770618" y="1391666"/>
                    <a:pt x="9682226" y="1480058"/>
                    <a:pt x="9573260" y="1480058"/>
                  </a:cubicBezTo>
                  <a:lnTo>
                    <a:pt x="197358" y="1480058"/>
                  </a:lnTo>
                  <a:cubicBezTo>
                    <a:pt x="88392" y="1479931"/>
                    <a:pt x="0" y="1391666"/>
                    <a:pt x="0" y="1282700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10424160" y="8522208"/>
            <a:ext cx="731520" cy="694944"/>
            <a:chOff x="0" y="0"/>
            <a:chExt cx="975360" cy="92659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75360" cy="926592"/>
            </a:xfrm>
            <a:custGeom>
              <a:avLst/>
              <a:gdLst/>
              <a:ahLst/>
              <a:cxnLst/>
              <a:rect l="l" t="t" r="r" b="b"/>
              <a:pathLst>
                <a:path w="975360" h="926592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888" r="-71888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9525"/>
              <a:ext cx="97536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64748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1247120" y="8522208"/>
            <a:ext cx="4023360" cy="694944"/>
            <a:chOff x="0" y="0"/>
            <a:chExt cx="5364480" cy="92659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364480" cy="926592"/>
            </a:xfrm>
            <a:custGeom>
              <a:avLst/>
              <a:gdLst/>
              <a:ahLst/>
              <a:cxnLst/>
              <a:rect l="l" t="t" r="r" b="b"/>
              <a:pathLst>
                <a:path w="5364480" h="926592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808" b="-62808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Jazz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5179040" y="8522208"/>
            <a:ext cx="2011680" cy="694944"/>
            <a:chOff x="0" y="0"/>
            <a:chExt cx="2682240" cy="92659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04" b="-6404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26822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$21.78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25167" y="9320527"/>
            <a:ext cx="16837657" cy="652777"/>
            <a:chOff x="0" y="0"/>
            <a:chExt cx="22450209" cy="870369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2450044" cy="870204"/>
            </a:xfrm>
            <a:custGeom>
              <a:avLst/>
              <a:gdLst/>
              <a:ahLst/>
              <a:cxnLst/>
              <a:rect l="l" t="t" r="r" b="b"/>
              <a:pathLst>
                <a:path w="22450044" h="870204">
                  <a:moveTo>
                    <a:pt x="0" y="198882"/>
                  </a:moveTo>
                  <a:cubicBezTo>
                    <a:pt x="0" y="89027"/>
                    <a:pt x="89027" y="0"/>
                    <a:pt x="198882" y="0"/>
                  </a:cubicBezTo>
                  <a:lnTo>
                    <a:pt x="22251163" y="0"/>
                  </a:lnTo>
                  <a:cubicBezTo>
                    <a:pt x="22361018" y="0"/>
                    <a:pt x="22450044" y="89027"/>
                    <a:pt x="22450044" y="198882"/>
                  </a:cubicBezTo>
                  <a:lnTo>
                    <a:pt x="22450044" y="671322"/>
                  </a:lnTo>
                  <a:cubicBezTo>
                    <a:pt x="22450044" y="781177"/>
                    <a:pt x="22361018" y="870204"/>
                    <a:pt x="22251163" y="870204"/>
                  </a:cubicBezTo>
                  <a:lnTo>
                    <a:pt x="198882" y="870204"/>
                  </a:lnTo>
                  <a:cubicBezTo>
                    <a:pt x="89027" y="870331"/>
                    <a:pt x="0" y="781304"/>
                    <a:pt x="0" y="671449"/>
                  </a:cubicBezTo>
                  <a:close/>
                </a:path>
              </a:pathLst>
            </a:custGeom>
            <a:solidFill>
              <a:srgbClr val="FEF3C7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1097280" y="9418320"/>
            <a:ext cx="16093440" cy="457200"/>
            <a:chOff x="0" y="0"/>
            <a:chExt cx="21457920" cy="6096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1457920" cy="609600"/>
            </a:xfrm>
            <a:custGeom>
              <a:avLst/>
              <a:gdLst/>
              <a:ahLst/>
              <a:cxnLst/>
              <a:rect l="l" t="t" r="r" b="b"/>
              <a:pathLst>
                <a:path w="21457920" h="60960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5873" b="-635873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2145792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2400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Insight: Rock + Latin + Metal together = 69% of all USA sales. New label albums in these 3 genres should be the top advertising priority.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716149"/>
            </a:xfrm>
            <a:custGeom>
              <a:avLst/>
              <a:gdLst/>
              <a:ahLst/>
              <a:cxnLst/>
              <a:rect l="l" t="t" r="r" b="b"/>
              <a:pathLst>
                <a:path w="24417910" h="2716149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14400" y="512064"/>
            <a:ext cx="16459200" cy="1097280"/>
            <a:chOff x="0" y="0"/>
            <a:chExt cx="21945600" cy="1463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Q10 — Customers with Diverse Genre Taste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1426464"/>
            <a:ext cx="16459200" cy="640080"/>
            <a:chOff x="0" y="0"/>
            <a:chExt cx="21945600" cy="853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Customers who purchased tracks from 3 or more different genres</a:t>
              </a:r>
            </a:p>
          </p:txBody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9184" y="1133856"/>
            <a:ext cx="12728448" cy="8705088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11880847" y="2188207"/>
            <a:ext cx="5681977" cy="6596377"/>
            <a:chOff x="0" y="0"/>
            <a:chExt cx="7575969" cy="879516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576058" cy="8795258"/>
            </a:xfrm>
            <a:custGeom>
              <a:avLst/>
              <a:gdLst/>
              <a:ahLst/>
              <a:cxnLst/>
              <a:rect l="l" t="t" r="r" b="b"/>
              <a:pathLst>
                <a:path w="7576058" h="8795258">
                  <a:moveTo>
                    <a:pt x="0" y="195580"/>
                  </a:moveTo>
                  <a:cubicBezTo>
                    <a:pt x="0" y="87503"/>
                    <a:pt x="87503" y="0"/>
                    <a:pt x="195580" y="0"/>
                  </a:cubicBezTo>
                  <a:lnTo>
                    <a:pt x="7380478" y="0"/>
                  </a:lnTo>
                  <a:cubicBezTo>
                    <a:pt x="7488428" y="0"/>
                    <a:pt x="7576058" y="87503"/>
                    <a:pt x="7576058" y="195580"/>
                  </a:cubicBezTo>
                  <a:lnTo>
                    <a:pt x="7576058" y="8599678"/>
                  </a:lnTo>
                  <a:cubicBezTo>
                    <a:pt x="7576058" y="8707628"/>
                    <a:pt x="7488555" y="8795258"/>
                    <a:pt x="7380478" y="8795258"/>
                  </a:cubicBezTo>
                  <a:lnTo>
                    <a:pt x="195580" y="8795258"/>
                  </a:lnTo>
                  <a:cubicBezTo>
                    <a:pt x="87630" y="8795258"/>
                    <a:pt x="0" y="8707755"/>
                    <a:pt x="0" y="8599678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2252960" y="2468880"/>
            <a:ext cx="5120640" cy="640080"/>
            <a:chOff x="0" y="0"/>
            <a:chExt cx="6827520" cy="8534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27520" cy="853440"/>
            </a:xfrm>
            <a:custGeom>
              <a:avLst/>
              <a:gdLst/>
              <a:ahLst/>
              <a:cxnLst/>
              <a:rect l="l" t="t" r="r" b="b"/>
              <a:pathLst>
                <a:path w="6827520" h="85344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682752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This Matters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252960" y="3291840"/>
            <a:ext cx="5120640" cy="768096"/>
            <a:chOff x="0" y="0"/>
            <a:chExt cx="6827520" cy="102412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27520" cy="1024128"/>
            </a:xfrm>
            <a:custGeom>
              <a:avLst/>
              <a:gdLst/>
              <a:ahLst/>
              <a:cxnLst/>
              <a:rect l="l" t="t" r="r" b="b"/>
              <a:pathLst>
                <a:path w="6827520" h="1024128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Multi-genre buyers have higher total spend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252960" y="4297680"/>
            <a:ext cx="5120640" cy="768096"/>
            <a:chOff x="0" y="0"/>
            <a:chExt cx="6827520" cy="102412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27520" cy="1024128"/>
            </a:xfrm>
            <a:custGeom>
              <a:avLst/>
              <a:gdLst/>
              <a:ahLst/>
              <a:cxnLst/>
              <a:rect l="l" t="t" r="r" b="b"/>
              <a:pathLst>
                <a:path w="6827520" h="1024128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dirty="0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 dirty="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More receptive to cross-sell recommendations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252960" y="5303520"/>
            <a:ext cx="5120640" cy="768096"/>
            <a:chOff x="0" y="0"/>
            <a:chExt cx="6827520" cy="102412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827520" cy="1024128"/>
            </a:xfrm>
            <a:custGeom>
              <a:avLst/>
              <a:gdLst/>
              <a:ahLst/>
              <a:cxnLst/>
              <a:rect l="l" t="t" r="r" b="b"/>
              <a:pathLst>
                <a:path w="6827520" h="1024128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Ideal for bundle offers across genres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252960" y="6309360"/>
            <a:ext cx="5120640" cy="768096"/>
            <a:chOff x="0" y="0"/>
            <a:chExt cx="6827520" cy="102412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827520" cy="1024128"/>
            </a:xfrm>
            <a:custGeom>
              <a:avLst/>
              <a:gdLst/>
              <a:ahLst/>
              <a:cxnLst/>
              <a:rect l="l" t="t" r="r" b="b"/>
              <a:pathLst>
                <a:path w="6827520" h="1024128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candidates for loyalty programs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252960" y="7315200"/>
            <a:ext cx="5120640" cy="768096"/>
            <a:chOff x="0" y="0"/>
            <a:chExt cx="6827520" cy="102412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827520" cy="1024128"/>
            </a:xfrm>
            <a:custGeom>
              <a:avLst/>
              <a:gdLst/>
              <a:ahLst/>
              <a:cxnLst/>
              <a:rect l="l" t="t" r="r" b="b"/>
              <a:pathLst>
                <a:path w="6827520" h="1024128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Higher customer lifetime value overall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25167" y="9137647"/>
            <a:ext cx="16837657" cy="780793"/>
            <a:chOff x="0" y="0"/>
            <a:chExt cx="22450209" cy="104105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2450044" cy="1041019"/>
            </a:xfrm>
            <a:custGeom>
              <a:avLst/>
              <a:gdLst/>
              <a:ahLst/>
              <a:cxnLst/>
              <a:rect l="l" t="t" r="r" b="b"/>
              <a:pathLst>
                <a:path w="22450044" h="1041019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22251797" y="0"/>
                  </a:lnTo>
                  <a:cubicBezTo>
                    <a:pt x="22361271" y="0"/>
                    <a:pt x="22450044" y="88773"/>
                    <a:pt x="22450044" y="198247"/>
                  </a:cubicBezTo>
                  <a:lnTo>
                    <a:pt x="22450044" y="842772"/>
                  </a:lnTo>
                  <a:cubicBezTo>
                    <a:pt x="22450044" y="952246"/>
                    <a:pt x="22361271" y="1041019"/>
                    <a:pt x="22251797" y="1041019"/>
                  </a:cubicBezTo>
                  <a:lnTo>
                    <a:pt x="198247" y="1041019"/>
                  </a:lnTo>
                  <a:cubicBezTo>
                    <a:pt x="88773" y="1041019"/>
                    <a:pt x="0" y="952246"/>
                    <a:pt x="0" y="842772"/>
                  </a:cubicBezTo>
                  <a:close/>
                </a:path>
              </a:pathLst>
            </a:custGeom>
            <a:solidFill>
              <a:srgbClr val="F0FDF4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097280" y="9290304"/>
            <a:ext cx="16093440" cy="548640"/>
            <a:chOff x="0" y="0"/>
            <a:chExt cx="21457920" cy="7315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457920" cy="731520"/>
            </a:xfrm>
            <a:custGeom>
              <a:avLst/>
              <a:gdLst/>
              <a:ahLst/>
              <a:cxnLst/>
              <a:rect l="l" t="t" r="r" b="b"/>
              <a:pathLst>
                <a:path w="21457920" h="7315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1561" b="-521561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65F4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Insight: Customers buying 5+ genres are Chinook's highest engagement tier. A loyalty program rewarding genre diversity could significantly boost retention and CLV.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03303" y="-1475737"/>
            <a:ext cx="6426203" cy="6426203"/>
            <a:chOff x="0" y="0"/>
            <a:chExt cx="8568271" cy="85682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68309" cy="8568309"/>
            </a:xfrm>
            <a:custGeom>
              <a:avLst/>
              <a:gdLst/>
              <a:ahLst/>
              <a:cxnLst/>
              <a:rect l="l" t="t" r="r" b="b"/>
              <a:pathLst>
                <a:path w="8568309" h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14400" y="512064"/>
            <a:ext cx="16459200" cy="1097280"/>
            <a:chOff x="0" y="0"/>
            <a:chExt cx="21945600" cy="1463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Recommendations for Chinook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1426464"/>
            <a:ext cx="16459200" cy="640080"/>
            <a:chOff x="0" y="0"/>
            <a:chExt cx="21945600" cy="853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Based on analysis of sales data, customer behavior, and genre performance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5167" y="2188207"/>
            <a:ext cx="8242297" cy="2353561"/>
            <a:chOff x="0" y="0"/>
            <a:chExt cx="10989729" cy="31380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89691" cy="3138043"/>
            </a:xfrm>
            <a:custGeom>
              <a:avLst/>
              <a:gdLst/>
              <a:ahLst/>
              <a:cxnLst/>
              <a:rect l="l" t="t" r="r" b="b"/>
              <a:pathLst>
                <a:path w="10989691" h="3138043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10793603" y="0"/>
                  </a:lnTo>
                  <a:cubicBezTo>
                    <a:pt x="10901935" y="0"/>
                    <a:pt x="10989691" y="87757"/>
                    <a:pt x="10989691" y="196088"/>
                  </a:cubicBezTo>
                  <a:lnTo>
                    <a:pt x="10989691" y="2941955"/>
                  </a:lnTo>
                  <a:cubicBezTo>
                    <a:pt x="10989691" y="3050286"/>
                    <a:pt x="10901935" y="3138043"/>
                    <a:pt x="10793603" y="3138043"/>
                  </a:cubicBezTo>
                  <a:lnTo>
                    <a:pt x="196088" y="3138043"/>
                  </a:lnTo>
                  <a:cubicBezTo>
                    <a:pt x="87757" y="3138043"/>
                    <a:pt x="0" y="3050286"/>
                    <a:pt x="0" y="2941955"/>
                  </a:cubicBezTo>
                  <a:close/>
                </a:path>
              </a:pathLst>
            </a:custGeom>
            <a:solidFill>
              <a:srgbClr val="1E3A5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05840" y="2377440"/>
            <a:ext cx="914400" cy="731520"/>
            <a:chOff x="0" y="0"/>
            <a:chExt cx="1219200" cy="9753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9200" cy="975360"/>
            </a:xfrm>
            <a:custGeom>
              <a:avLst/>
              <a:gdLst/>
              <a:ahLst/>
              <a:cxnLst/>
              <a:rect l="l" t="t" r="r" b="b"/>
              <a:pathLst>
                <a:path w="1219200" h="975360">
                  <a:moveTo>
                    <a:pt x="0" y="0"/>
                  </a:moveTo>
                  <a:lnTo>
                    <a:pt x="1219200" y="0"/>
                  </a:lnTo>
                  <a:lnTo>
                    <a:pt x="1219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21920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F59E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048256" y="2340864"/>
            <a:ext cx="6583680" cy="694944"/>
            <a:chOff x="0" y="0"/>
            <a:chExt cx="8778240" cy="9265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778240" cy="926592"/>
            </a:xfrm>
            <a:custGeom>
              <a:avLst/>
              <a:gdLst/>
              <a:ahLst/>
              <a:cxnLst/>
              <a:rect l="l" t="t" r="r" b="b"/>
              <a:pathLst>
                <a:path w="8778240" h="926592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595" b="-134595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877824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Promote Rock, Latin &amp; Metal in USA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048256" y="3072384"/>
            <a:ext cx="6583680" cy="1316736"/>
            <a:chOff x="0" y="0"/>
            <a:chExt cx="8778240" cy="17556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778240" cy="1755648"/>
            </a:xfrm>
            <a:custGeom>
              <a:avLst/>
              <a:gdLst/>
              <a:ahLst/>
              <a:cxnLst/>
              <a:rect l="l" t="t" r="r" b="b"/>
              <a:pathLst>
                <a:path w="8778240" h="1755648">
                  <a:moveTo>
                    <a:pt x="0" y="0"/>
                  </a:moveTo>
                  <a:lnTo>
                    <a:pt x="8778240" y="0"/>
                  </a:lnTo>
                  <a:lnTo>
                    <a:pt x="87782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778240" cy="17937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These 3 genres = 69% of USA revenue. New albums in these genres should get the highest advertising priority and budget allocation.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25167" y="4785103"/>
            <a:ext cx="8242297" cy="2353561"/>
            <a:chOff x="0" y="0"/>
            <a:chExt cx="10989729" cy="313808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989691" cy="3138043"/>
            </a:xfrm>
            <a:custGeom>
              <a:avLst/>
              <a:gdLst/>
              <a:ahLst/>
              <a:cxnLst/>
              <a:rect l="l" t="t" r="r" b="b"/>
              <a:pathLst>
                <a:path w="10989691" h="3138043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10793603" y="0"/>
                  </a:lnTo>
                  <a:cubicBezTo>
                    <a:pt x="10901935" y="0"/>
                    <a:pt x="10989691" y="87757"/>
                    <a:pt x="10989691" y="196088"/>
                  </a:cubicBezTo>
                  <a:lnTo>
                    <a:pt x="10989691" y="2941955"/>
                  </a:lnTo>
                  <a:cubicBezTo>
                    <a:pt x="10989691" y="3050286"/>
                    <a:pt x="10901935" y="3138043"/>
                    <a:pt x="10793603" y="3138043"/>
                  </a:cubicBezTo>
                  <a:lnTo>
                    <a:pt x="196088" y="3138043"/>
                  </a:lnTo>
                  <a:cubicBezTo>
                    <a:pt x="87757" y="3138043"/>
                    <a:pt x="0" y="3050286"/>
                    <a:pt x="0" y="2941955"/>
                  </a:cubicBezTo>
                  <a:close/>
                </a:path>
              </a:pathLst>
            </a:custGeom>
            <a:solidFill>
              <a:srgbClr val="1E3A5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005840" y="4974336"/>
            <a:ext cx="914400" cy="731520"/>
            <a:chOff x="0" y="0"/>
            <a:chExt cx="1219200" cy="9753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19200" cy="975360"/>
            </a:xfrm>
            <a:custGeom>
              <a:avLst/>
              <a:gdLst/>
              <a:ahLst/>
              <a:cxnLst/>
              <a:rect l="l" t="t" r="r" b="b"/>
              <a:pathLst>
                <a:path w="1219200" h="975360">
                  <a:moveTo>
                    <a:pt x="0" y="0"/>
                  </a:moveTo>
                  <a:lnTo>
                    <a:pt x="1219200" y="0"/>
                  </a:lnTo>
                  <a:lnTo>
                    <a:pt x="1219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121920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3B82C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048256" y="4937760"/>
            <a:ext cx="6583680" cy="694944"/>
            <a:chOff x="0" y="0"/>
            <a:chExt cx="8778240" cy="9265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778240" cy="926592"/>
            </a:xfrm>
            <a:custGeom>
              <a:avLst/>
              <a:gdLst/>
              <a:ahLst/>
              <a:cxnLst/>
              <a:rect l="l" t="t" r="r" b="b"/>
              <a:pathLst>
                <a:path w="8778240" h="926592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595" b="-134595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77824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Re-engage 38 Churned Customers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048256" y="5669280"/>
            <a:ext cx="6583680" cy="1316736"/>
            <a:chOff x="0" y="0"/>
            <a:chExt cx="8778240" cy="17556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778240" cy="1755648"/>
            </a:xfrm>
            <a:custGeom>
              <a:avLst/>
              <a:gdLst/>
              <a:ahLst/>
              <a:cxnLst/>
              <a:rect l="l" t="t" r="r" b="b"/>
              <a:pathLst>
                <a:path w="8778240" h="1755648">
                  <a:moveTo>
                    <a:pt x="0" y="0"/>
                  </a:moveTo>
                  <a:lnTo>
                    <a:pt x="8778240" y="0"/>
                  </a:lnTo>
                  <a:lnTo>
                    <a:pt x="87782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8778240" cy="17937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Send personalized emails with genre-specific new releases and a limited-time discount. Customers inactive 90–180 days are the most recoverable.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25167" y="7381999"/>
            <a:ext cx="8242297" cy="2353561"/>
            <a:chOff x="0" y="0"/>
            <a:chExt cx="10989729" cy="313808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89691" cy="3138043"/>
            </a:xfrm>
            <a:custGeom>
              <a:avLst/>
              <a:gdLst/>
              <a:ahLst/>
              <a:cxnLst/>
              <a:rect l="l" t="t" r="r" b="b"/>
              <a:pathLst>
                <a:path w="10989691" h="3138043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10793603" y="0"/>
                  </a:lnTo>
                  <a:cubicBezTo>
                    <a:pt x="10901935" y="0"/>
                    <a:pt x="10989691" y="87757"/>
                    <a:pt x="10989691" y="196088"/>
                  </a:cubicBezTo>
                  <a:lnTo>
                    <a:pt x="10989691" y="2941955"/>
                  </a:lnTo>
                  <a:cubicBezTo>
                    <a:pt x="10989691" y="3050286"/>
                    <a:pt x="10901935" y="3138043"/>
                    <a:pt x="10793603" y="3138043"/>
                  </a:cubicBezTo>
                  <a:lnTo>
                    <a:pt x="196088" y="3138043"/>
                  </a:lnTo>
                  <a:cubicBezTo>
                    <a:pt x="87757" y="3138043"/>
                    <a:pt x="0" y="3050286"/>
                    <a:pt x="0" y="2941955"/>
                  </a:cubicBezTo>
                  <a:close/>
                </a:path>
              </a:pathLst>
            </a:custGeom>
            <a:solidFill>
              <a:srgbClr val="1E3A5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005840" y="7571232"/>
            <a:ext cx="914400" cy="731520"/>
            <a:chOff x="0" y="0"/>
            <a:chExt cx="1219200" cy="9753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19200" cy="975360"/>
            </a:xfrm>
            <a:custGeom>
              <a:avLst/>
              <a:gdLst/>
              <a:ahLst/>
              <a:cxnLst/>
              <a:rect l="l" t="t" r="r" b="b"/>
              <a:pathLst>
                <a:path w="1219200" h="975360">
                  <a:moveTo>
                    <a:pt x="0" y="0"/>
                  </a:moveTo>
                  <a:lnTo>
                    <a:pt x="1219200" y="0"/>
                  </a:lnTo>
                  <a:lnTo>
                    <a:pt x="1219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121920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05966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048256" y="7534656"/>
            <a:ext cx="6583680" cy="694944"/>
            <a:chOff x="0" y="0"/>
            <a:chExt cx="8778240" cy="92659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778240" cy="926592"/>
            </a:xfrm>
            <a:custGeom>
              <a:avLst/>
              <a:gdLst/>
              <a:ahLst/>
              <a:cxnLst/>
              <a:rect l="l" t="t" r="r" b="b"/>
              <a:pathLst>
                <a:path w="8778240" h="926592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595" b="-134595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877824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 a Cross-Genre Recommendation Engine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048256" y="8266176"/>
            <a:ext cx="6583680" cy="1316736"/>
            <a:chOff x="0" y="0"/>
            <a:chExt cx="8778240" cy="175564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778240" cy="1755648"/>
            </a:xfrm>
            <a:custGeom>
              <a:avLst/>
              <a:gdLst/>
              <a:ahLst/>
              <a:cxnLst/>
              <a:rect l="l" t="t" r="r" b="b"/>
              <a:pathLst>
                <a:path w="8778240" h="1755648">
                  <a:moveTo>
                    <a:pt x="0" y="0"/>
                  </a:moveTo>
                  <a:lnTo>
                    <a:pt x="8778240" y="0"/>
                  </a:lnTo>
                  <a:lnTo>
                    <a:pt x="87782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8778240" cy="17937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Rock and Metal buyers frequently purchase together. A simple 'you might also like' feature based on genre affinity could increase avg basket size by 30–40%.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503407" y="2188207"/>
            <a:ext cx="8242297" cy="2353561"/>
            <a:chOff x="0" y="0"/>
            <a:chExt cx="10989729" cy="313808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989691" cy="3138043"/>
            </a:xfrm>
            <a:custGeom>
              <a:avLst/>
              <a:gdLst/>
              <a:ahLst/>
              <a:cxnLst/>
              <a:rect l="l" t="t" r="r" b="b"/>
              <a:pathLst>
                <a:path w="10989691" h="3138043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10793603" y="0"/>
                  </a:lnTo>
                  <a:cubicBezTo>
                    <a:pt x="10901935" y="0"/>
                    <a:pt x="10989691" y="87757"/>
                    <a:pt x="10989691" y="196088"/>
                  </a:cubicBezTo>
                  <a:lnTo>
                    <a:pt x="10989691" y="2941955"/>
                  </a:lnTo>
                  <a:cubicBezTo>
                    <a:pt x="10989691" y="3050286"/>
                    <a:pt x="10901935" y="3138043"/>
                    <a:pt x="10793603" y="3138043"/>
                  </a:cubicBezTo>
                  <a:lnTo>
                    <a:pt x="196088" y="3138043"/>
                  </a:lnTo>
                  <a:cubicBezTo>
                    <a:pt x="87757" y="3138043"/>
                    <a:pt x="0" y="3050286"/>
                    <a:pt x="0" y="2941955"/>
                  </a:cubicBezTo>
                  <a:close/>
                </a:path>
              </a:pathLst>
            </a:custGeom>
            <a:solidFill>
              <a:srgbClr val="1E3A5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9784080" y="2377440"/>
            <a:ext cx="914400" cy="731520"/>
            <a:chOff x="0" y="0"/>
            <a:chExt cx="1219200" cy="97536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19200" cy="975360"/>
            </a:xfrm>
            <a:custGeom>
              <a:avLst/>
              <a:gdLst/>
              <a:ahLst/>
              <a:cxnLst/>
              <a:rect l="l" t="t" r="r" b="b"/>
              <a:pathLst>
                <a:path w="1219200" h="975360">
                  <a:moveTo>
                    <a:pt x="0" y="0"/>
                  </a:moveTo>
                  <a:lnTo>
                    <a:pt x="1219200" y="0"/>
                  </a:lnTo>
                  <a:lnTo>
                    <a:pt x="1219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121920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0D948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826496" y="2340864"/>
            <a:ext cx="6583680" cy="694944"/>
            <a:chOff x="0" y="0"/>
            <a:chExt cx="8778240" cy="92659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778240" cy="926592"/>
            </a:xfrm>
            <a:custGeom>
              <a:avLst/>
              <a:gdLst/>
              <a:ahLst/>
              <a:cxnLst/>
              <a:rect l="l" t="t" r="r" b="b"/>
              <a:pathLst>
                <a:path w="8778240" h="926592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595" b="-134595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877824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Single-Customer Countries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826496" y="3072384"/>
            <a:ext cx="6583680" cy="1316736"/>
            <a:chOff x="0" y="0"/>
            <a:chExt cx="8778240" cy="175564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778240" cy="1755648"/>
            </a:xfrm>
            <a:custGeom>
              <a:avLst/>
              <a:gdLst/>
              <a:ahLst/>
              <a:cxnLst/>
              <a:rect l="l" t="t" r="r" b="b"/>
              <a:pathLst>
                <a:path w="8778240" h="1755648">
                  <a:moveTo>
                    <a:pt x="0" y="0"/>
                  </a:moveTo>
                  <a:lnTo>
                    <a:pt x="8778240" y="0"/>
                  </a:lnTo>
                  <a:lnTo>
                    <a:pt x="87782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8778240" cy="17937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Argentina, Austria, Australia each have 1 customer who spends well. Focused regional campaigns in these markets could unlock significant new revenue.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503407" y="4785103"/>
            <a:ext cx="8242297" cy="2353561"/>
            <a:chOff x="0" y="0"/>
            <a:chExt cx="10989729" cy="3138081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989691" cy="3138043"/>
            </a:xfrm>
            <a:custGeom>
              <a:avLst/>
              <a:gdLst/>
              <a:ahLst/>
              <a:cxnLst/>
              <a:rect l="l" t="t" r="r" b="b"/>
              <a:pathLst>
                <a:path w="10989691" h="3138043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10793603" y="0"/>
                  </a:lnTo>
                  <a:cubicBezTo>
                    <a:pt x="10901935" y="0"/>
                    <a:pt x="10989691" y="87757"/>
                    <a:pt x="10989691" y="196088"/>
                  </a:cubicBezTo>
                  <a:lnTo>
                    <a:pt x="10989691" y="2941955"/>
                  </a:lnTo>
                  <a:cubicBezTo>
                    <a:pt x="10989691" y="3050286"/>
                    <a:pt x="10901935" y="3138043"/>
                    <a:pt x="10793603" y="3138043"/>
                  </a:cubicBezTo>
                  <a:lnTo>
                    <a:pt x="196088" y="3138043"/>
                  </a:lnTo>
                  <a:cubicBezTo>
                    <a:pt x="87757" y="3138043"/>
                    <a:pt x="0" y="3050286"/>
                    <a:pt x="0" y="2941955"/>
                  </a:cubicBezTo>
                  <a:close/>
                </a:path>
              </a:pathLst>
            </a:custGeom>
            <a:solidFill>
              <a:srgbClr val="1E3A5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9784080" y="4974336"/>
            <a:ext cx="914400" cy="731520"/>
            <a:chOff x="0" y="0"/>
            <a:chExt cx="1219200" cy="97536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219200" cy="975360"/>
            </a:xfrm>
            <a:custGeom>
              <a:avLst/>
              <a:gdLst/>
              <a:ahLst/>
              <a:cxnLst/>
              <a:rect l="l" t="t" r="r" b="b"/>
              <a:pathLst>
                <a:path w="1219200" h="975360">
                  <a:moveTo>
                    <a:pt x="0" y="0"/>
                  </a:moveTo>
                  <a:lnTo>
                    <a:pt x="1219200" y="0"/>
                  </a:lnTo>
                  <a:lnTo>
                    <a:pt x="1219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121920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F59E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826496" y="4937760"/>
            <a:ext cx="6583680" cy="694944"/>
            <a:chOff x="0" y="0"/>
            <a:chExt cx="8778240" cy="92659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778240" cy="926592"/>
            </a:xfrm>
            <a:custGeom>
              <a:avLst/>
              <a:gdLst/>
              <a:ahLst/>
              <a:cxnLst/>
              <a:rect l="l" t="t" r="r" b="b"/>
              <a:pathLst>
                <a:path w="8778240" h="926592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595" b="-134595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877824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Introduce Bundle Pricing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826496" y="5669280"/>
            <a:ext cx="6583680" cy="1316736"/>
            <a:chOff x="0" y="0"/>
            <a:chExt cx="8778240" cy="175564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778240" cy="1755648"/>
            </a:xfrm>
            <a:custGeom>
              <a:avLst/>
              <a:gdLst/>
              <a:ahLst/>
              <a:cxnLst/>
              <a:rect l="l" t="t" r="r" b="b"/>
              <a:pathLst>
                <a:path w="8778240" h="1755648">
                  <a:moveTo>
                    <a:pt x="0" y="0"/>
                  </a:moveTo>
                  <a:lnTo>
                    <a:pt x="8778240" y="0"/>
                  </a:lnTo>
                  <a:lnTo>
                    <a:pt x="87782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8778240" cy="17937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 basket is only 2–3 tracks per order. A 5-track bundle at a small discount could increase per-visit revenue without reducing overall margins.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503407" y="7381999"/>
            <a:ext cx="8242297" cy="2353561"/>
            <a:chOff x="0" y="0"/>
            <a:chExt cx="10989729" cy="3138081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0989691" cy="3138043"/>
            </a:xfrm>
            <a:custGeom>
              <a:avLst/>
              <a:gdLst/>
              <a:ahLst/>
              <a:cxnLst/>
              <a:rect l="l" t="t" r="r" b="b"/>
              <a:pathLst>
                <a:path w="10989691" h="3138043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10793603" y="0"/>
                  </a:lnTo>
                  <a:cubicBezTo>
                    <a:pt x="10901935" y="0"/>
                    <a:pt x="10989691" y="87757"/>
                    <a:pt x="10989691" y="196088"/>
                  </a:cubicBezTo>
                  <a:lnTo>
                    <a:pt x="10989691" y="2941955"/>
                  </a:lnTo>
                  <a:cubicBezTo>
                    <a:pt x="10989691" y="3050286"/>
                    <a:pt x="10901935" y="3138043"/>
                    <a:pt x="10793603" y="3138043"/>
                  </a:cubicBezTo>
                  <a:lnTo>
                    <a:pt x="196088" y="3138043"/>
                  </a:lnTo>
                  <a:cubicBezTo>
                    <a:pt x="87757" y="3138043"/>
                    <a:pt x="0" y="3050286"/>
                    <a:pt x="0" y="2941955"/>
                  </a:cubicBezTo>
                  <a:close/>
                </a:path>
              </a:pathLst>
            </a:custGeom>
            <a:solidFill>
              <a:srgbClr val="1E3A5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9784080" y="7571232"/>
            <a:ext cx="914400" cy="731520"/>
            <a:chOff x="0" y="0"/>
            <a:chExt cx="1219200" cy="97536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219200" cy="975360"/>
            </a:xfrm>
            <a:custGeom>
              <a:avLst/>
              <a:gdLst/>
              <a:ahLst/>
              <a:cxnLst/>
              <a:rect l="l" t="t" r="r" b="b"/>
              <a:pathLst>
                <a:path w="1219200" h="975360">
                  <a:moveTo>
                    <a:pt x="0" y="0"/>
                  </a:moveTo>
                  <a:lnTo>
                    <a:pt x="1219200" y="0"/>
                  </a:lnTo>
                  <a:lnTo>
                    <a:pt x="1219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9525"/>
              <a:ext cx="121920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3B82C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826496" y="7534656"/>
            <a:ext cx="6583680" cy="694944"/>
            <a:chOff x="0" y="0"/>
            <a:chExt cx="8778240" cy="92659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778240" cy="926592"/>
            </a:xfrm>
            <a:custGeom>
              <a:avLst/>
              <a:gdLst/>
              <a:ahLst/>
              <a:cxnLst/>
              <a:rect l="l" t="t" r="r" b="b"/>
              <a:pathLst>
                <a:path w="8778240" h="926592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595" b="-134595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47625"/>
              <a:ext cx="877824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Launch a Loyalty Program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0826496" y="8266176"/>
            <a:ext cx="6583680" cy="1316736"/>
            <a:chOff x="0" y="0"/>
            <a:chExt cx="8778240" cy="1755648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778240" cy="1755648"/>
            </a:xfrm>
            <a:custGeom>
              <a:avLst/>
              <a:gdLst/>
              <a:ahLst/>
              <a:cxnLst/>
              <a:rect l="l" t="t" r="r" b="b"/>
              <a:pathLst>
                <a:path w="8778240" h="1755648">
                  <a:moveTo>
                    <a:pt x="0" y="0"/>
                  </a:moveTo>
                  <a:lnTo>
                    <a:pt x="8778240" y="0"/>
                  </a:lnTo>
                  <a:lnTo>
                    <a:pt x="87782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8778240" cy="17937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Customers buying 5+ genres have higher CLV. Reward genre diversity with badges, early access to new releases, or small discounts to improve long-term retention.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41497" y="6388103"/>
            <a:ext cx="7340603" cy="7340603"/>
            <a:chOff x="0" y="0"/>
            <a:chExt cx="9787471" cy="97874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87509" cy="9787509"/>
            </a:xfrm>
            <a:custGeom>
              <a:avLst/>
              <a:gdLst/>
              <a:ahLst/>
              <a:cxnLst/>
              <a:rect l="l" t="t" r="r" b="b"/>
              <a:pathLst>
                <a:path w="9787509" h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cubicBezTo>
                    <a:pt x="7596377" y="0"/>
                    <a:pt x="9787509" y="2191004"/>
                    <a:pt x="9787509" y="4893691"/>
                  </a:cubicBezTo>
                  <a:cubicBezTo>
                    <a:pt x="9787509" y="7596377"/>
                    <a:pt x="7596505" y="9787509"/>
                    <a:pt x="4893691" y="9787509"/>
                  </a:cubicBezTo>
                  <a:cubicBezTo>
                    <a:pt x="2190876" y="9787509"/>
                    <a:pt x="0" y="7596505"/>
                    <a:pt x="0" y="4893691"/>
                  </a:cubicBezTo>
                  <a:close/>
                </a:path>
              </a:pathLst>
            </a:custGeom>
            <a:solidFill>
              <a:srgbClr val="F59E0B">
                <a:alpha val="1176"/>
              </a:srgbClr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4617703" y="-1841497"/>
            <a:ext cx="5511803" cy="5511803"/>
            <a:chOff x="0" y="0"/>
            <a:chExt cx="7349071" cy="7349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49109" cy="7349109"/>
            </a:xfrm>
            <a:custGeom>
              <a:avLst/>
              <a:gdLst/>
              <a:ahLst/>
              <a:cxnLst/>
              <a:rect l="l" t="t" r="r" b="b"/>
              <a:pathLst>
                <a:path w="7349109" h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cubicBezTo>
                    <a:pt x="5703824" y="0"/>
                    <a:pt x="7349109" y="1645158"/>
                    <a:pt x="7349109" y="3674491"/>
                  </a:cubicBezTo>
                  <a:cubicBezTo>
                    <a:pt x="7349109" y="5703824"/>
                    <a:pt x="5703951" y="7349109"/>
                    <a:pt x="3674491" y="7349109"/>
                  </a:cubicBezTo>
                  <a:cubicBezTo>
                    <a:pt x="1645031" y="7349109"/>
                    <a:pt x="0" y="5703951"/>
                    <a:pt x="0" y="3674491"/>
                  </a:cubicBezTo>
                  <a:close/>
                </a:path>
              </a:pathLst>
            </a:custGeom>
            <a:solidFill>
              <a:srgbClr val="2563A8">
                <a:alpha val="3922"/>
              </a:srgbClr>
            </a:solidFill>
            <a:ln w="25400" cap="sq">
              <a:solidFill>
                <a:srgbClr val="2563A8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2351845" y="914405"/>
            <a:ext cx="12801600" cy="1325496"/>
            <a:chOff x="0" y="0"/>
            <a:chExt cx="17068800" cy="17673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068800" cy="1767329"/>
            </a:xfrm>
            <a:custGeom>
              <a:avLst/>
              <a:gdLst/>
              <a:ahLst/>
              <a:cxnLst/>
              <a:rect l="l" t="t" r="r" b="b"/>
              <a:pathLst>
                <a:path w="17068800" h="1767329">
                  <a:moveTo>
                    <a:pt x="0" y="0"/>
                  </a:moveTo>
                  <a:lnTo>
                    <a:pt x="17068800" y="0"/>
                  </a:lnTo>
                  <a:lnTo>
                    <a:pt x="17068800" y="1767329"/>
                  </a:lnTo>
                  <a:lnTo>
                    <a:pt x="0" y="17673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0243" b="-126127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42875"/>
              <a:ext cx="17068800" cy="1910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19"/>
                </a:lnSpc>
              </a:pPr>
              <a:r>
                <a:rPr lang="en-US" sz="65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28800" y="2468880"/>
            <a:ext cx="14630400" cy="2011680"/>
            <a:chOff x="0" y="0"/>
            <a:chExt cx="19507200" cy="2682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507200" cy="2682240"/>
            </a:xfrm>
            <a:custGeom>
              <a:avLst/>
              <a:gdLst/>
              <a:ahLst/>
              <a:cxnLst/>
              <a:rect l="l" t="t" r="r" b="b"/>
              <a:pathLst>
                <a:path w="19507200" h="2682240">
                  <a:moveTo>
                    <a:pt x="0" y="0"/>
                  </a:moveTo>
                  <a:lnTo>
                    <a:pt x="19507200" y="0"/>
                  </a:lnTo>
                  <a:lnTo>
                    <a:pt x="195072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1709" b="-91709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9507200" cy="26917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Chinook has a solid but underleveraged</a:t>
              </a:r>
            </a:p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customer base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657600" y="4663440"/>
            <a:ext cx="11887200" cy="694944"/>
            <a:chOff x="0" y="0"/>
            <a:chExt cx="15849600" cy="9265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849600" cy="926592"/>
            </a:xfrm>
            <a:custGeom>
              <a:avLst/>
              <a:gdLst/>
              <a:ahLst/>
              <a:cxnLst/>
              <a:rect l="l" t="t" r="r" b="b"/>
              <a:pathLst>
                <a:path w="15849600" h="926592">
                  <a:moveTo>
                    <a:pt x="0" y="0"/>
                  </a:moveTo>
                  <a:lnTo>
                    <a:pt x="15849600" y="0"/>
                  </a:lnTo>
                  <a:lnTo>
                    <a:pt x="15849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3296" b="-28329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84960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 dirty="0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</a:t>
              </a:r>
              <a:r>
                <a:rPr lang="en-US" sz="2400" dirty="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Rock dominates USA sales — double down on it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657600" y="5522976"/>
            <a:ext cx="11887200" cy="694944"/>
            <a:chOff x="0" y="0"/>
            <a:chExt cx="15849600" cy="9265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849600" cy="926592"/>
            </a:xfrm>
            <a:custGeom>
              <a:avLst/>
              <a:gdLst/>
              <a:ahLst/>
              <a:cxnLst/>
              <a:rect l="l" t="t" r="r" b="b"/>
              <a:pathLst>
                <a:path w="15849600" h="926592">
                  <a:moveTo>
                    <a:pt x="0" y="0"/>
                  </a:moveTo>
                  <a:lnTo>
                    <a:pt x="15849600" y="0"/>
                  </a:lnTo>
                  <a:lnTo>
                    <a:pt x="15849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3296" b="-283296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584960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</a:t>
              </a:r>
              <a:r>
                <a:rPr lang="en-US" sz="24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64% churn rate signals a need for re-engagement campaigns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657600" y="6382512"/>
            <a:ext cx="11887200" cy="694944"/>
            <a:chOff x="0" y="0"/>
            <a:chExt cx="15849600" cy="92659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849600" cy="926592"/>
            </a:xfrm>
            <a:custGeom>
              <a:avLst/>
              <a:gdLst/>
              <a:ahLst/>
              <a:cxnLst/>
              <a:rect l="l" t="t" r="r" b="b"/>
              <a:pathLst>
                <a:path w="15849600" h="926592">
                  <a:moveTo>
                    <a:pt x="0" y="0"/>
                  </a:moveTo>
                  <a:lnTo>
                    <a:pt x="15849600" y="0"/>
                  </a:lnTo>
                  <a:lnTo>
                    <a:pt x="15849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3296" b="-283296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584960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</a:t>
              </a:r>
              <a:r>
                <a:rPr lang="en-US" sz="24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Small-basket shopping behavior = opportunity for bundles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657600" y="7242048"/>
            <a:ext cx="11887200" cy="694944"/>
            <a:chOff x="0" y="0"/>
            <a:chExt cx="15849600" cy="92659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849600" cy="926592"/>
            </a:xfrm>
            <a:custGeom>
              <a:avLst/>
              <a:gdLst/>
              <a:ahLst/>
              <a:cxnLst/>
              <a:rect l="l" t="t" r="r" b="b"/>
              <a:pathLst>
                <a:path w="15849600" h="926592">
                  <a:moveTo>
                    <a:pt x="0" y="0"/>
                  </a:moveTo>
                  <a:lnTo>
                    <a:pt x="15849600" y="0"/>
                  </a:lnTo>
                  <a:lnTo>
                    <a:pt x="15849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3296" b="-283296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584960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</a:t>
              </a:r>
              <a:r>
                <a:rPr lang="en-US" sz="24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Multi-genre customers are the highest-value segment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657600" y="8101584"/>
            <a:ext cx="11887200" cy="694944"/>
            <a:chOff x="0" y="0"/>
            <a:chExt cx="15849600" cy="92659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849600" cy="926592"/>
            </a:xfrm>
            <a:custGeom>
              <a:avLst/>
              <a:gdLst/>
              <a:ahLst/>
              <a:cxnLst/>
              <a:rect l="l" t="t" r="r" b="b"/>
              <a:pathLst>
                <a:path w="15849600" h="926592">
                  <a:moveTo>
                    <a:pt x="0" y="0"/>
                  </a:moveTo>
                  <a:lnTo>
                    <a:pt x="15849600" y="0"/>
                  </a:lnTo>
                  <a:lnTo>
                    <a:pt x="15849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3296" b="-283296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584960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</a:t>
              </a:r>
              <a:r>
                <a:rPr lang="en-US" sz="24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Single-customer countries are untapped growth markets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651247" y="9229087"/>
            <a:ext cx="10985497" cy="12697"/>
            <a:chOff x="0" y="0"/>
            <a:chExt cx="14647329" cy="169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647290" cy="16891"/>
            </a:xfrm>
            <a:custGeom>
              <a:avLst/>
              <a:gdLst/>
              <a:ahLst/>
              <a:cxnLst/>
              <a:rect l="l" t="t" r="r" b="b"/>
              <a:pathLst>
                <a:path w="14647290" h="16891">
                  <a:moveTo>
                    <a:pt x="0" y="0"/>
                  </a:moveTo>
                  <a:lnTo>
                    <a:pt x="146472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16846681" b="-16846907"/>
              </a:stretch>
            </a:blipFill>
            <a:ln w="12700" cap="sq">
              <a:solidFill>
                <a:srgbClr val="64748B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99299" y="4264978"/>
            <a:ext cx="5689402" cy="157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2006</Words>
  <Application>Microsoft Office PowerPoint</Application>
  <PresentationFormat>Custom</PresentationFormat>
  <Paragraphs>239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Calibri</vt:lpstr>
      <vt:lpstr>Cambria Bold</vt:lpstr>
      <vt:lpstr>Calibri (MS)</vt:lpstr>
      <vt:lpstr>Arial</vt:lpstr>
      <vt:lpstr>Aptos</vt:lpstr>
      <vt:lpstr>Calibri (MS) Bold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Chinook PPT</dc:title>
  <cp:lastModifiedBy>Purushotam Kumar</cp:lastModifiedBy>
  <cp:revision>27</cp:revision>
  <dcterms:created xsi:type="dcterms:W3CDTF">2006-08-16T00:00:00Z</dcterms:created>
  <dcterms:modified xsi:type="dcterms:W3CDTF">2026-08-20T16:34:46Z</dcterms:modified>
  <dc:identifier>DAHNxfElfgQ</dc:identifier>
</cp:coreProperties>
</file>